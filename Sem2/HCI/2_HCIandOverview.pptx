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28"/>
  </p:notesMasterIdLst>
  <p:handoutMasterIdLst>
    <p:handoutMasterId r:id="rId29"/>
  </p:handoutMasterIdLst>
  <p:sldIdLst>
    <p:sldId id="352" r:id="rId5"/>
    <p:sldId id="534" r:id="rId6"/>
    <p:sldId id="535" r:id="rId7"/>
    <p:sldId id="537" r:id="rId8"/>
    <p:sldId id="538" r:id="rId9"/>
    <p:sldId id="555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33" r:id="rId27"/>
  </p:sldIdLst>
  <p:sldSz cx="9144000" cy="6858000" type="screen4x3"/>
  <p:notesSz cx="6858000" cy="97774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2FFA3"/>
    <a:srgbClr val="A2C1FE"/>
    <a:srgbClr val="FCFEB9"/>
    <a:srgbClr val="CECECE"/>
    <a:srgbClr val="C1CEFF"/>
    <a:srgbClr val="D1D3CA"/>
    <a:srgbClr val="CA143B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00220-60A3-4E65-907F-E0713305624B}" v="2" dt="2024-02-27T05:00:31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0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esh Kumar Appadurai" userId="964b10c7-5270-4f75-aefb-832a8d5a6d51" providerId="ADAL" clId="{7E500220-60A3-4E65-907F-E0713305624B}"/>
    <pc:docChg chg="custSel modSld">
      <pc:chgData name="Naresh Kumar Appadurai" userId="964b10c7-5270-4f75-aefb-832a8d5a6d51" providerId="ADAL" clId="{7E500220-60A3-4E65-907F-E0713305624B}" dt="2024-02-27T05:01:59.211" v="70" actId="403"/>
      <pc:docMkLst>
        <pc:docMk/>
      </pc:docMkLst>
      <pc:sldChg chg="modSp mod">
        <pc:chgData name="Naresh Kumar Appadurai" userId="964b10c7-5270-4f75-aefb-832a8d5a6d51" providerId="ADAL" clId="{7E500220-60A3-4E65-907F-E0713305624B}" dt="2024-02-27T04:59:21.495" v="3" actId="1076"/>
        <pc:sldMkLst>
          <pc:docMk/>
          <pc:sldMk cId="0" sldId="538"/>
        </pc:sldMkLst>
        <pc:spChg chg="mod">
          <ac:chgData name="Naresh Kumar Appadurai" userId="964b10c7-5270-4f75-aefb-832a8d5a6d51" providerId="ADAL" clId="{7E500220-60A3-4E65-907F-E0713305624B}" dt="2024-02-27T04:59:21.495" v="3" actId="1076"/>
          <ac:spMkLst>
            <pc:docMk/>
            <pc:sldMk cId="0" sldId="538"/>
            <ac:spMk id="24579" creationId="{124C1ED1-7315-4C89-A203-62CA5907C35C}"/>
          </ac:spMkLst>
        </pc:spChg>
      </pc:sldChg>
      <pc:sldChg chg="modSp mod">
        <pc:chgData name="Naresh Kumar Appadurai" userId="964b10c7-5270-4f75-aefb-832a8d5a6d51" providerId="ADAL" clId="{7E500220-60A3-4E65-907F-E0713305624B}" dt="2024-02-27T04:59:40.582" v="4" actId="33524"/>
        <pc:sldMkLst>
          <pc:docMk/>
          <pc:sldMk cId="0" sldId="540"/>
        </pc:sldMkLst>
        <pc:spChg chg="mod">
          <ac:chgData name="Naresh Kumar Appadurai" userId="964b10c7-5270-4f75-aefb-832a8d5a6d51" providerId="ADAL" clId="{7E500220-60A3-4E65-907F-E0713305624B}" dt="2024-02-27T04:59:40.582" v="4" actId="33524"/>
          <ac:spMkLst>
            <pc:docMk/>
            <pc:sldMk cId="0" sldId="540"/>
            <ac:spMk id="29699" creationId="{5ABC0571-19C4-4ECA-825F-B95D6EB687AD}"/>
          </ac:spMkLst>
        </pc:spChg>
      </pc:sldChg>
      <pc:sldChg chg="modSp mod">
        <pc:chgData name="Naresh Kumar Appadurai" userId="964b10c7-5270-4f75-aefb-832a8d5a6d51" providerId="ADAL" clId="{7E500220-60A3-4E65-907F-E0713305624B}" dt="2024-02-27T05:00:07.244" v="42" actId="20577"/>
        <pc:sldMkLst>
          <pc:docMk/>
          <pc:sldMk cId="0" sldId="543"/>
        </pc:sldMkLst>
        <pc:spChg chg="mod">
          <ac:chgData name="Naresh Kumar Appadurai" userId="964b10c7-5270-4f75-aefb-832a8d5a6d51" providerId="ADAL" clId="{7E500220-60A3-4E65-907F-E0713305624B}" dt="2024-02-27T05:00:07.244" v="42" actId="20577"/>
          <ac:spMkLst>
            <pc:docMk/>
            <pc:sldMk cId="0" sldId="543"/>
            <ac:spMk id="33795" creationId="{B7B53A56-E91E-4BC7-88C7-06B465DD19DF}"/>
          </ac:spMkLst>
        </pc:spChg>
      </pc:sldChg>
      <pc:sldChg chg="modSp mod">
        <pc:chgData name="Naresh Kumar Appadurai" userId="964b10c7-5270-4f75-aefb-832a8d5a6d51" providerId="ADAL" clId="{7E500220-60A3-4E65-907F-E0713305624B}" dt="2024-02-27T05:00:51.560" v="68" actId="179"/>
        <pc:sldMkLst>
          <pc:docMk/>
          <pc:sldMk cId="0" sldId="544"/>
        </pc:sldMkLst>
        <pc:spChg chg="mod">
          <ac:chgData name="Naresh Kumar Appadurai" userId="964b10c7-5270-4f75-aefb-832a8d5a6d51" providerId="ADAL" clId="{7E500220-60A3-4E65-907F-E0713305624B}" dt="2024-02-27T05:00:51.560" v="68" actId="179"/>
          <ac:spMkLst>
            <pc:docMk/>
            <pc:sldMk cId="0" sldId="544"/>
            <ac:spMk id="35843" creationId="{F675140F-DE50-4053-8939-0AAB7F33F4AE}"/>
          </ac:spMkLst>
        </pc:spChg>
      </pc:sldChg>
      <pc:sldChg chg="modSp mod">
        <pc:chgData name="Naresh Kumar Appadurai" userId="964b10c7-5270-4f75-aefb-832a8d5a6d51" providerId="ADAL" clId="{7E500220-60A3-4E65-907F-E0713305624B}" dt="2024-02-27T05:01:59.211" v="70" actId="403"/>
        <pc:sldMkLst>
          <pc:docMk/>
          <pc:sldMk cId="0" sldId="553"/>
        </pc:sldMkLst>
        <pc:spChg chg="mod">
          <ac:chgData name="Naresh Kumar Appadurai" userId="964b10c7-5270-4f75-aefb-832a8d5a6d51" providerId="ADAL" clId="{7E500220-60A3-4E65-907F-E0713305624B}" dt="2024-02-27T05:01:59.211" v="70" actId="403"/>
          <ac:spMkLst>
            <pc:docMk/>
            <pc:sldMk cId="0" sldId="553"/>
            <ac:spMk id="46083" creationId="{0C7E12A5-1293-4343-A535-C9A6FDBABEE1}"/>
          </ac:spMkLst>
        </pc:spChg>
      </pc:sldChg>
    </pc:docChg>
  </pc:docChgLst>
  <pc:docChgLst>
    <pc:chgData name="Naresh Kumar Appadurai" userId="964b10c7-5270-4f75-aefb-832a8d5a6d51" providerId="ADAL" clId="{9F20DF5D-64E8-4062-8F7F-22700561A22D}"/>
    <pc:docChg chg="modSld">
      <pc:chgData name="Naresh Kumar Appadurai" userId="964b10c7-5270-4f75-aefb-832a8d5a6d51" providerId="ADAL" clId="{9F20DF5D-64E8-4062-8F7F-22700561A22D}" dt="2023-02-27T05:33:19.326" v="6" actId="1076"/>
      <pc:docMkLst>
        <pc:docMk/>
      </pc:docMkLst>
      <pc:sldChg chg="addSp delSp modSp">
        <pc:chgData name="Naresh Kumar Appadurai" userId="964b10c7-5270-4f75-aefb-832a8d5a6d51" providerId="ADAL" clId="{9F20DF5D-64E8-4062-8F7F-22700561A22D}" dt="2023-02-27T05:33:19.326" v="6" actId="1076"/>
        <pc:sldMkLst>
          <pc:docMk/>
          <pc:sldMk cId="0" sldId="537"/>
        </pc:sldMkLst>
        <pc:spChg chg="add del mod">
          <ac:chgData name="Naresh Kumar Appadurai" userId="964b10c7-5270-4f75-aefb-832a8d5a6d51" providerId="ADAL" clId="{9F20DF5D-64E8-4062-8F7F-22700561A22D}" dt="2023-02-27T05:33:07.558" v="1"/>
          <ac:spMkLst>
            <pc:docMk/>
            <pc:sldMk cId="0" sldId="537"/>
            <ac:spMk id="2" creationId="{CF141502-454F-461C-9E3F-AAB4DA9C0FC8}"/>
          </ac:spMkLst>
        </pc:spChg>
        <pc:picChg chg="add mod">
          <ac:chgData name="Naresh Kumar Appadurai" userId="964b10c7-5270-4f75-aefb-832a8d5a6d51" providerId="ADAL" clId="{9F20DF5D-64E8-4062-8F7F-22700561A22D}" dt="2023-02-27T05:33:19.326" v="6" actId="1076"/>
          <ac:picMkLst>
            <pc:docMk/>
            <pc:sldMk cId="0" sldId="537"/>
            <ac:picMk id="4" creationId="{7B8256B6-DE11-4770-BD48-39787729D30A}"/>
          </ac:picMkLst>
        </pc:picChg>
        <pc:picChg chg="del">
          <ac:chgData name="Naresh Kumar Appadurai" userId="964b10c7-5270-4f75-aefb-832a8d5a6d51" providerId="ADAL" clId="{9F20DF5D-64E8-4062-8F7F-22700561A22D}" dt="2023-02-27T05:32:59.232" v="0" actId="478"/>
          <ac:picMkLst>
            <pc:docMk/>
            <pc:sldMk cId="0" sldId="537"/>
            <ac:picMk id="22531" creationId="{ECA7DA24-04B5-4F84-8E87-4D175E492E3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F527B2-2833-4390-AE30-9E1594EB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07950"/>
            <a:ext cx="4427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latin typeface="Book Antiqua" panose="02040602050305030304" pitchFamily="18" charset="0"/>
              </a:rPr>
              <a:t>Asia Pacific University of Technology and Innovation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55AF867-7874-4F97-B8F5-9A9353D4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9366250"/>
            <a:ext cx="4064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3FF7C4FB-77BD-45C3-92B4-689CF0798B99}" type="slidenum">
              <a:rPr lang="en-US" altLang="en-US" sz="1400">
                <a:latin typeface="Book Antiqua" panose="02040602050305030304" pitchFamily="18" charset="0"/>
              </a:rPr>
              <a:pPr algn="r"/>
              <a:t>‹#›</a:t>
            </a:fld>
            <a:endParaRPr lang="en-US" altLang="en-US" sz="14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F088C15-F389-4052-9EE1-7EF2D2CC3E9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AD40D20-D555-4AC2-A44D-05694471008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854075"/>
            <a:ext cx="4568825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EC0B73F2-F851-4414-94BD-A753EAE5E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09538"/>
            <a:ext cx="50387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latin typeface="Book Antiqua" panose="02040602050305030304" pitchFamily="18" charset="0"/>
              </a:rPr>
              <a:t>Asia Pacific University College of Technology and Innovation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C1A02F17-8B71-46DD-B9A2-6934C4EC8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9366250"/>
            <a:ext cx="4064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47CCC9F-CA7B-4664-BBE0-C74C485121ED}" type="slidenum">
              <a:rPr lang="en-US" altLang="en-US" sz="1400">
                <a:latin typeface="Book Antiqua" panose="02040602050305030304" pitchFamily="18" charset="0"/>
              </a:rPr>
              <a:pPr algn="r"/>
              <a:t>‹#›</a:t>
            </a:fld>
            <a:endParaRPr lang="en-US" altLang="en-US" sz="1400">
              <a:latin typeface="Book Antiqua" panose="0204060205030503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843BD7FC-5B82-4503-AA6A-ABABE58FF8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E8FA23BF-43F8-437D-B0FE-8ED386265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3A4C48F0-3696-412F-B923-417B8D7D0F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97DFDF0E-3673-4833-BB41-00281817E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F0E1AE06-E409-40EE-93A6-913CD5BE8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A27F2E19-8113-41F0-9CD6-86BAD85A8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FD5335F6-0636-4AC2-B2D7-C3386BBB28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C2A6A3AD-74DF-421D-8B52-F286474D8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45025"/>
            <a:ext cx="50292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What is the conclusion that can be derived from the statistics?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314227F-215B-44A7-924D-0AAFD143D3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7425" y="733425"/>
            <a:ext cx="4884738" cy="3663950"/>
          </a:xfrm>
          <a:ln/>
        </p:spPr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CB8C8B08-083D-4BC6-B7FF-BE9976CCF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Now we are going to look at one common issue in user interface design.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An ideal setup of software engineering would require user interface experts to handle the interface development,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however in real life, not all software development projects can afford specialist for each and every development task, 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hence it is very likely that the programmer will be pushed to do both codings and user interface designing. 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Without the talents and proper training, the interface design will be based on intuition rather than the theory.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Which will result in the tendency to let the artistic features of user interface beats its usability. 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This is usually where the inconsistent features that do not fit into a good user interface design criteria come from.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25E5E534-15D0-4C3F-AF19-89714B22C6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F2C0325A-B6AC-4D4F-9CEF-7F26D30E9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45025"/>
            <a:ext cx="50292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Short for </a:t>
            </a:r>
            <a:r>
              <a:rPr lang="en-US" altLang="en-US" b="1" i="1">
                <a:ea typeface="ＭＳ Ｐゴシック" panose="020B0600070205080204" pitchFamily="34" charset="-128"/>
              </a:rPr>
              <a:t>h</a:t>
            </a:r>
            <a:r>
              <a:rPr lang="en-US" altLang="en-US" i="1">
                <a:ea typeface="ＭＳ Ｐゴシック" panose="020B0600070205080204" pitchFamily="34" charset="-128"/>
              </a:rPr>
              <a:t>uman-</a:t>
            </a:r>
            <a:r>
              <a:rPr lang="en-US" altLang="en-US" b="1" i="1">
                <a:ea typeface="ＭＳ Ｐゴシック" panose="020B0600070205080204" pitchFamily="34" charset="-128"/>
              </a:rPr>
              <a:t>c</a:t>
            </a:r>
            <a:r>
              <a:rPr lang="en-US" altLang="en-US" i="1">
                <a:ea typeface="ＭＳ Ｐゴシック" panose="020B0600070205080204" pitchFamily="34" charset="-128"/>
              </a:rPr>
              <a:t>omputer </a:t>
            </a:r>
            <a:r>
              <a:rPr lang="en-US" altLang="en-US" b="1" i="1">
                <a:ea typeface="ＭＳ Ｐゴシック" panose="020B0600070205080204" pitchFamily="34" charset="-128"/>
              </a:rPr>
              <a:t>I</a:t>
            </a:r>
            <a:r>
              <a:rPr lang="en-US" altLang="en-US" i="1">
                <a:ea typeface="ＭＳ Ｐゴシック" panose="020B0600070205080204" pitchFamily="34" charset="-128"/>
              </a:rPr>
              <a:t>nteraction</a:t>
            </a:r>
            <a:r>
              <a:rPr lang="en-US" altLang="en-US">
                <a:ea typeface="ＭＳ Ｐゴシック" panose="020B0600070205080204" pitchFamily="34" charset="-128"/>
              </a:rPr>
              <a:t>, a discipline concerned with the study, design, construction and implementation of human-centric interactive computer systems.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B212E0E-8487-4B0A-AE0A-53F9834F64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F97BFAAB-BDDB-4509-B683-B25EFEA47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45025"/>
            <a:ext cx="50292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600">
                <a:ea typeface="ＭＳ Ｐゴシック" panose="020B0600070205080204" pitchFamily="34" charset="-128"/>
              </a:rPr>
              <a:t>computer science is concerned with the application design and engineering of the human interfaces; 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sociology and anthropology are concerned with the interactions between technology, work and organization and the way that human systems and technical systems mutually adapt to each other;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ergonomics is concerned with the safety of computer systems and the safe limits of human cognition and sensation; 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psychology is concerned with the cognitive processes of humans and the behavior of users; 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linguistics is concerned with the development of human and machine languages and the relationship between the two. 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6163B4DB-DC0B-4C83-957F-EA80B572EF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37F16539-C31F-458E-B774-FB971BDA2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45025"/>
            <a:ext cx="50292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2ECE54E2-1765-464C-B9F7-79FFD96077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71B7FEAA-52D1-4E64-9C08-DEFF194BF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975724B-FF95-4BBB-AB15-A8B988A8DE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0" y="733425"/>
            <a:ext cx="4889500" cy="3667125"/>
          </a:xfrm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127BA101-18DB-43F8-B18E-D8206D9C5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5025"/>
            <a:ext cx="5486400" cy="4398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Can proceed with the tutorial, get student to come back to the next class (during tutorial slot) to present their vending machine product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4B02C78E-4323-4665-86A9-0391228E2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BAE4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pic>
        <p:nvPicPr>
          <p:cNvPr id="5" name="Picture 9" descr="APU Logo_Final_Vertical_V1_HR1 copy.png">
            <a:extLst>
              <a:ext uri="{FF2B5EF4-FFF2-40B4-BE49-F238E27FC236}">
                <a16:creationId xmlns:a16="http://schemas.microsoft.com/office/drawing/2014/main" id="{769A23FB-A5B4-47BD-BB4F-A63F9030B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95513"/>
            <a:ext cx="25304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9253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641475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69A35F1-698A-4FD5-BBEB-19F8756B12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730B620B-C3D2-4280-A364-B49749AFEE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05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87D314F-B59B-46EF-89CC-0EBBAC2F18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F57ED79A-DE97-4B21-9146-FDFBEA194E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539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641475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41475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1DB0B88-FB3A-4E12-AFBB-4F33ECDC11D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2325210E-FE87-4994-B605-54E834AF38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83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3B2B644-D358-41FF-A60F-7D39B533433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F22C9EFB-3987-43E7-8635-F1B33684D7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703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20D6B425-38E1-4CFC-966B-147DA5C4938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303D0937-280F-4DA8-A403-DAB7725B40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06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3B508A83-145A-4645-94C9-002A5529E4D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BC1A0942-C66B-483D-B07E-3144F1228E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91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AE4524D-1EE5-463E-8E28-93DE6EFDE8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77083856-9D8E-47D8-BEC6-82BB463E70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42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49E74DD-6DD2-4F15-A780-C57FB26CDA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2F36325D-5F6D-454A-80B0-93114BB3ED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330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1641475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F635544-105E-47F7-9263-2567AC9E36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C9DEF5FB-8AF2-4FD6-8291-E233953A0F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42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0513" y="274638"/>
            <a:ext cx="2057400" cy="58928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74638"/>
            <a:ext cx="6019800" cy="5892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3D4847B-7B68-4EE7-9D59-78DEBC6F950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126D6E29-34DF-430E-A480-83C7C2F116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6380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274638"/>
            <a:ext cx="704215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641475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3" y="3979863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DCC1D53-95FA-4CCB-A793-AF71644D98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2AEFF656-832A-42C9-A51D-A3E1990184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043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68313" y="274638"/>
            <a:ext cx="8229600" cy="589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29F4225-4BD5-41C7-83EC-39E1F99385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ＭＳ Ｐゴシック" panose="020B0600070205080204" pitchFamily="34" charset="-128"/>
              </a:defRPr>
            </a:lvl1pPr>
          </a:lstStyle>
          <a:p>
            <a:fld id="{EE6948CB-D3A4-4C5E-A7AA-7E25EF5EB6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317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>
            <a:extLst>
              <a:ext uri="{FF2B5EF4-FFF2-40B4-BE49-F238E27FC236}">
                <a16:creationId xmlns:a16="http://schemas.microsoft.com/office/drawing/2014/main" id="{1B14502E-9929-4D34-BC15-C517CD4F4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0F649E38-4C1B-44BA-B5F6-3D52C55677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GB" altLang="en-US" sz="18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7FE5946-0E7A-4871-AF88-AB1E798EF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CF8901B6-B81D-4BA5-8EF0-04E1059AE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1EBEFCAF-5784-48D6-9DE4-B5AB7C4DBE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800">
                <a:latin typeface="Calibri" panose="020F0502020204030204" pitchFamily="34" charset="0"/>
              </a:rPr>
              <a:t>CTO26-3-2  Human Computer Interaction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0E7D8A71-4291-443A-8C05-3F8B279AE3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&lt;#&gt; of 13</a:t>
            </a:r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8CB380E7-3C58-4BF7-99E7-EE90872E18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GB" altLang="en-US" sz="800">
                <a:latin typeface="Calibri" panose="020F0502020204030204" pitchFamily="34" charset="0"/>
              </a:rPr>
              <a:t>Introduction to Human Computer Interaction</a:t>
            </a:r>
          </a:p>
        </p:txBody>
      </p:sp>
      <p:pic>
        <p:nvPicPr>
          <p:cNvPr id="1033" name="Picture 10" descr="APU Logo Final-medium.jpg">
            <a:extLst>
              <a:ext uri="{FF2B5EF4-FFF2-40B4-BE49-F238E27FC236}">
                <a16:creationId xmlns:a16="http://schemas.microsoft.com/office/drawing/2014/main" id="{FF68F222-F14C-494E-81A3-69C6CEEA068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nd.org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4">
            <a:extLst>
              <a:ext uri="{FF2B5EF4-FFF2-40B4-BE49-F238E27FC236}">
                <a16:creationId xmlns:a16="http://schemas.microsoft.com/office/drawing/2014/main" id="{BBC7360B-A5BD-4B6C-9ED0-DE102136B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6375400"/>
            <a:ext cx="578008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900"/>
              <a:t>Prepared by: RZW First Prepared on: December, 2007 Last Modified on: Feb 2018 </a:t>
            </a:r>
          </a:p>
          <a:p>
            <a:pPr algn="ctr"/>
            <a:r>
              <a:rPr lang="en-US" altLang="en-US" sz="900"/>
              <a:t>Quality checked by: MOH</a:t>
            </a:r>
          </a:p>
          <a:p>
            <a:pPr algn="ctr"/>
            <a:r>
              <a:rPr lang="en-US" altLang="en-US" sz="900"/>
              <a:t>Copyright 2004 Asia Pacific Institute of Information Technology</a:t>
            </a:r>
            <a:endParaRPr lang="en-US" altLang="en-US" sz="1800"/>
          </a:p>
        </p:txBody>
      </p:sp>
      <p:sp>
        <p:nvSpPr>
          <p:cNvPr id="17410" name="Text Box 6">
            <a:extLst>
              <a:ext uri="{FF2B5EF4-FFF2-40B4-BE49-F238E27FC236}">
                <a16:creationId xmlns:a16="http://schemas.microsoft.com/office/drawing/2014/main" id="{101663E0-44AC-434E-83C5-0E50C73740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89188" y="2241550"/>
            <a:ext cx="6754812" cy="892175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3800">
                <a:solidFill>
                  <a:schemeClr val="tx1"/>
                </a:solidFill>
                <a:ea typeface="ＭＳ Ｐゴシック" panose="020B0600070205080204" pitchFamily="34" charset="-128"/>
              </a:rPr>
              <a:t>Human Computer Interaction</a:t>
            </a:r>
            <a:br>
              <a:rPr lang="en-US" altLang="en-US" sz="3800">
                <a:solidFill>
                  <a:schemeClr val="tx1"/>
                </a:solidFill>
                <a:ea typeface="ＭＳ Ｐゴシック" panose="020B0600070205080204" pitchFamily="34" charset="-128"/>
              </a:rPr>
            </a:br>
            <a:r>
              <a:rPr lang="en-US" altLang="en-US" sz="1400">
                <a:solidFill>
                  <a:schemeClr val="tx1"/>
                </a:solidFill>
                <a:ea typeface="ＭＳ Ｐゴシック" panose="020B0600070205080204" pitchFamily="34" charset="-128"/>
              </a:rPr>
              <a:t>CT026-3-2-HCI and Version: September 2018</a:t>
            </a:r>
          </a:p>
        </p:txBody>
      </p:sp>
      <p:sp>
        <p:nvSpPr>
          <p:cNvPr id="17411" name="Subtitle 2">
            <a:extLst>
              <a:ext uri="{FF2B5EF4-FFF2-40B4-BE49-F238E27FC236}">
                <a16:creationId xmlns:a16="http://schemas.microsoft.com/office/drawing/2014/main" id="{2F2F45C6-9A77-408E-A47E-0558F29109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Introduction to Human Computer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3">
            <a:extLst>
              <a:ext uri="{FF2B5EF4-FFF2-40B4-BE49-F238E27FC236}">
                <a16:creationId xmlns:a16="http://schemas.microsoft.com/office/drawing/2014/main" id="{B3B36678-C0D3-4A74-83AD-22FFB46949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EDE1602-5F2D-4FB3-9D78-A00879AC510F}" type="slidenum">
              <a:rPr lang="en-US" altLang="en-US" sz="1000"/>
              <a:pPr eaLnBrk="1" hangingPunct="1"/>
              <a:t>2</a:t>
            </a:fld>
            <a:endParaRPr lang="en-US" altLang="en-US" sz="1000"/>
          </a:p>
        </p:txBody>
      </p:sp>
      <p:sp>
        <p:nvSpPr>
          <p:cNvPr id="18434" name="Text Box 2">
            <a:extLst>
              <a:ext uri="{FF2B5EF4-FFF2-40B4-BE49-F238E27FC236}">
                <a16:creationId xmlns:a16="http://schemas.microsoft.com/office/drawing/2014/main" id="{258EBC0E-D2B6-4E23-8561-3BDD3D61C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23863"/>
            <a:ext cx="67643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b="1">
                <a:solidFill>
                  <a:srgbClr val="003366"/>
                </a:solidFill>
              </a:rPr>
              <a:t>Topic and Structure of the Lesson</a:t>
            </a:r>
            <a:endParaRPr lang="en-US" altLang="en-US" sz="3200">
              <a:solidFill>
                <a:srgbClr val="003366"/>
              </a:solidFill>
            </a:endParaRP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D0BB8341-9C32-4302-8809-E572159DC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1806575"/>
            <a:ext cx="7745412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en-GB" altLang="en-US" sz="2800"/>
              <a:t>  Common issues in interface design</a:t>
            </a:r>
          </a:p>
          <a:p>
            <a:pPr eaLnBrk="1" hangingPunct="1">
              <a:buFontTx/>
              <a:buChar char="•"/>
            </a:pPr>
            <a:r>
              <a:rPr lang="en-GB" altLang="en-US" sz="2800"/>
              <a:t>  The reason behind HCI</a:t>
            </a:r>
          </a:p>
          <a:p>
            <a:pPr eaLnBrk="1" hangingPunct="1">
              <a:buFontTx/>
              <a:buChar char="•"/>
            </a:pPr>
            <a:r>
              <a:rPr lang="en-GB" altLang="en-US" sz="2800"/>
              <a:t>  HCI definition</a:t>
            </a:r>
          </a:p>
          <a:p>
            <a:pPr eaLnBrk="1" hangingPunct="1">
              <a:buFontTx/>
              <a:buChar char="•"/>
            </a:pPr>
            <a:r>
              <a:rPr lang="en-GB" altLang="en-US" sz="2800"/>
              <a:t>  The many scopes of HCI</a:t>
            </a:r>
          </a:p>
          <a:p>
            <a:pPr eaLnBrk="1" hangingPunct="1">
              <a:buFontTx/>
              <a:buChar char="•"/>
            </a:pPr>
            <a:r>
              <a:rPr lang="en-GB" altLang="en-US" sz="2800"/>
              <a:t>  Usability</a:t>
            </a:r>
          </a:p>
          <a:p>
            <a:pPr eaLnBrk="1" hangingPunct="1">
              <a:buFontTx/>
              <a:buChar char="•"/>
            </a:pPr>
            <a:r>
              <a:rPr lang="en-GB" altLang="en-US" sz="2800"/>
              <a:t>  Designing for usability</a:t>
            </a:r>
          </a:p>
          <a:p>
            <a:pPr eaLnBrk="1" hangingPunct="1">
              <a:buFontTx/>
              <a:buChar char="•"/>
            </a:pPr>
            <a:r>
              <a:rPr lang="en-GB" altLang="en-US" sz="2800"/>
              <a:t>  Understanding interaction</a:t>
            </a:r>
          </a:p>
          <a:p>
            <a:pPr eaLnBrk="1" hangingPunct="1">
              <a:buFontTx/>
              <a:buChar char="•"/>
            </a:pPr>
            <a:endParaRPr lang="en-GB" altLang="en-US" sz="2800"/>
          </a:p>
          <a:p>
            <a:pPr eaLnBrk="1" hangingPunct="1">
              <a:buFontTx/>
              <a:buChar char="•"/>
            </a:pPr>
            <a:endParaRPr lang="en-GB" altLang="en-US" sz="2800"/>
          </a:p>
          <a:p>
            <a:pPr eaLnBrk="1" hangingPunct="1">
              <a:buFontTx/>
              <a:buChar char="•"/>
            </a:pPr>
            <a:endParaRPr lang="en-US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547C805D-9980-48F5-8345-4DF2F3719F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0012FFE-E38D-4139-97E7-2ADD525F7D05}" type="slidenum">
              <a:rPr lang="en-US" altLang="en-US" sz="1000"/>
              <a:pPr eaLnBrk="1" hangingPunct="1"/>
              <a:t>3</a:t>
            </a:fld>
            <a:endParaRPr lang="en-US" altLang="en-US" sz="1000"/>
          </a:p>
        </p:txBody>
      </p:sp>
      <p:sp>
        <p:nvSpPr>
          <p:cNvPr id="20482" name="Text Box 2">
            <a:extLst>
              <a:ext uri="{FF2B5EF4-FFF2-40B4-BE49-F238E27FC236}">
                <a16:creationId xmlns:a16="http://schemas.microsoft.com/office/drawing/2014/main" id="{615B8CB6-E4CA-4BC3-A9E3-CF622B04B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334963"/>
            <a:ext cx="3994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b="1">
                <a:solidFill>
                  <a:srgbClr val="003366"/>
                </a:solidFill>
              </a:rPr>
              <a:t>Learning Outcomes</a:t>
            </a:r>
            <a:endParaRPr lang="en-US" altLang="en-US" sz="3200">
              <a:solidFill>
                <a:srgbClr val="003366"/>
              </a:solidFill>
            </a:endParaRP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535B05A5-A050-499B-8440-54E260C22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341438"/>
            <a:ext cx="760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At the end of this session, </a:t>
            </a:r>
            <a:r>
              <a:rPr lang="en-US" altLang="en-US">
                <a:solidFill>
                  <a:srgbClr val="FF0000"/>
                </a:solidFill>
              </a:rPr>
              <a:t>YOU</a:t>
            </a:r>
            <a:r>
              <a:rPr lang="en-US" altLang="en-US">
                <a:solidFill>
                  <a:schemeClr val="accent2"/>
                </a:solidFill>
              </a:rPr>
              <a:t> should be able to: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983D4F57-245C-433E-A248-CC3F8A0EF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979613"/>
            <a:ext cx="83597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/>
              <a:t>Explain what HCI is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Char char="•"/>
            </a:pPr>
            <a:r>
              <a:rPr lang="en-US" altLang="en-US"/>
              <a:t>Explain what are the factors influencing HCI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Char char="•"/>
            </a:pPr>
            <a:r>
              <a:rPr lang="en-US" altLang="en-US"/>
              <a:t>Explain what usability is</a:t>
            </a:r>
          </a:p>
          <a:p>
            <a:pPr eaLnBrk="1" hangingPunct="1">
              <a:buFontTx/>
              <a:buChar char="•"/>
            </a:pPr>
            <a:endParaRPr lang="en-US" altLang="en-US"/>
          </a:p>
          <a:p>
            <a:pPr eaLnBrk="1" hangingPunct="1">
              <a:buFontTx/>
              <a:buChar char="•"/>
            </a:pPr>
            <a:r>
              <a:rPr lang="en-US" altLang="en-US"/>
              <a:t>Describe the major principles in designing for Usability</a:t>
            </a:r>
          </a:p>
          <a:p>
            <a:pPr lvl="1" eaLnBrk="1" hangingPunct="1"/>
            <a:endParaRPr lang="en-US" altLang="en-US"/>
          </a:p>
          <a:p>
            <a:pPr eaLnBrk="1" hangingPunct="1">
              <a:buFontTx/>
              <a:buChar char="•"/>
            </a:pPr>
            <a:r>
              <a:rPr lang="en-US" altLang="en-US"/>
              <a:t>Explain what interactivity is, and how usability is important in designing interactive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645B2047-5AAC-4B0F-B5F5-3086C2227A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DDA23D8-0A16-4BAB-A3DB-207079E819D3}" type="slidenum">
              <a:rPr lang="en-US" altLang="en-US" sz="1000"/>
              <a:pPr eaLnBrk="1" hangingPunct="1"/>
              <a:t>4</a:t>
            </a:fld>
            <a:endParaRPr lang="en-US" altLang="en-US" sz="1000"/>
          </a:p>
        </p:txBody>
      </p:sp>
      <p:sp>
        <p:nvSpPr>
          <p:cNvPr id="22530" name="Text Box 2">
            <a:extLst>
              <a:ext uri="{FF2B5EF4-FFF2-40B4-BE49-F238E27FC236}">
                <a16:creationId xmlns:a16="http://schemas.microsoft.com/office/drawing/2014/main" id="{215CE404-6673-4077-AB3F-E6EA399F7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92113"/>
            <a:ext cx="2709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en-US" sz="3200" b="1">
                <a:solidFill>
                  <a:srgbClr val="003366"/>
                </a:solidFill>
              </a:rPr>
              <a:t>Why Bother?</a:t>
            </a:r>
            <a:endParaRPr lang="en-US" altLang="en-US" sz="3200" b="1">
              <a:solidFill>
                <a:srgbClr val="003366"/>
              </a:solidFill>
            </a:endParaRP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7B8256B6-DE11-4770-BD48-39787729D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701" y="901233"/>
            <a:ext cx="7134224" cy="572181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5E879FDF-C665-4C12-9776-5D15FBD1E3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62E1A5A-69F2-46DF-B43B-9C9BC22DAD14}" type="slidenum">
              <a:rPr lang="en-US" altLang="en-US" sz="1000"/>
              <a:pPr eaLnBrk="1" hangingPunct="1"/>
              <a:t>5</a:t>
            </a:fld>
            <a:endParaRPr lang="en-US" altLang="en-US" sz="10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3FA97A5-2E6E-40AB-8DE7-977924655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0" y="255588"/>
            <a:ext cx="8229600" cy="1143000"/>
          </a:xfrm>
        </p:spPr>
        <p:txBody>
          <a:bodyPr/>
          <a:lstStyle/>
          <a:p>
            <a:pPr algn="l" eaLnBrk="1" hangingPunct="1"/>
            <a:r>
              <a:rPr lang="en-GB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Why Systems Fail?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24C1ED1-7315-4C89-A203-62CA5907C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16075"/>
            <a:ext cx="8229600" cy="4525963"/>
          </a:xfrm>
        </p:spPr>
        <p:txBody>
          <a:bodyPr/>
          <a:lstStyle/>
          <a:p>
            <a:pPr eaLnBrk="1" hangingPunct="1">
              <a:lnSpc>
                <a:spcPct val="93000"/>
              </a:lnSpc>
            </a:pPr>
            <a:r>
              <a:rPr lang="en-GB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Inadequate requirements	13%</a:t>
            </a:r>
          </a:p>
          <a:p>
            <a:pPr eaLnBrk="1" hangingPunct="1"/>
            <a:r>
              <a:rPr lang="en-GB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Lack of user participation	12%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Inadequate resources		11%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Unrealistic expectations	10%</a:t>
            </a:r>
          </a:p>
          <a:p>
            <a:pPr eaLnBrk="1" hangingPunct="1"/>
            <a:r>
              <a:rPr lang="en-GB" altLang="en-US" sz="2800" dirty="0">
                <a:ea typeface="ＭＳ Ｐゴシック" panose="020B0600070205080204" pitchFamily="34" charset="-128"/>
              </a:rPr>
              <a:t>Lack of support at senior level</a:t>
            </a:r>
            <a:r>
              <a:rPr lang="en-GB" altLang="en-US" dirty="0">
                <a:ea typeface="ＭＳ Ｐゴシック" panose="020B0600070205080204" pitchFamily="34" charset="-128"/>
              </a:rPr>
              <a:t>	9%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Changing specification		8%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Lack of planning			8%</a:t>
            </a:r>
          </a:p>
          <a:p>
            <a:pPr eaLnBrk="1" hangingPunct="1"/>
            <a:endParaRPr lang="en-GB" altLang="en-US" dirty="0">
              <a:solidFill>
                <a:srgbClr val="9900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3967A03C-0641-4BA4-9C27-018AA4BAB8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88B5C2C-A1E3-41BA-890E-62B6B3D0064B}" type="slidenum">
              <a:rPr lang="en-US" altLang="en-US" sz="1000"/>
              <a:pPr eaLnBrk="1" hangingPunct="1"/>
              <a:t>6</a:t>
            </a:fld>
            <a:endParaRPr lang="en-US" altLang="en-US" sz="10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16209A4-F0DC-4137-B842-E458E9972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The Perfect User </a:t>
            </a:r>
            <a:r>
              <a:rPr lang="en-US" altLang="en-US" sz="1800" b="1" i="1">
                <a:solidFill>
                  <a:srgbClr val="003366"/>
                </a:solidFill>
                <a:ea typeface="ＭＳ Ｐゴシック" panose="020B0600070205080204" pitchFamily="34" charset="-128"/>
              </a:rPr>
              <a:t>(that every designer wishes for)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6B92F25-7057-432B-A78F-DBF9362D5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26628" name="Picture 4" descr="elecamonglebat">
            <a:extLst>
              <a:ext uri="{FF2B5EF4-FFF2-40B4-BE49-F238E27FC236}">
                <a16:creationId xmlns:a16="http://schemas.microsoft.com/office/drawing/2014/main" id="{DB08E212-318E-4F77-BD97-AFBC6A03C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773238"/>
            <a:ext cx="49530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>
            <a:extLst>
              <a:ext uri="{FF2B5EF4-FFF2-40B4-BE49-F238E27FC236}">
                <a16:creationId xmlns:a16="http://schemas.microsoft.com/office/drawing/2014/main" id="{955DE4B5-67ED-455C-8AD1-D42748747D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6659A0A-AC44-4639-B09C-B035B05B558E}" type="slidenum">
              <a:rPr lang="en-US" altLang="en-US" sz="1000"/>
              <a:pPr eaLnBrk="1" hangingPunct="1"/>
              <a:t>7</a:t>
            </a:fld>
            <a:endParaRPr lang="en-US" altLang="en-US" sz="10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BA5F1E88-B953-46F6-9348-F6E8977A5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0" y="392113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sz="2800" b="1">
                <a:solidFill>
                  <a:srgbClr val="003366"/>
                </a:solidFill>
                <a:ea typeface="ＭＳ Ｐゴシック" panose="020B0600070205080204" pitchFamily="34" charset="-128"/>
              </a:rPr>
              <a:t>Common Issues in User Interface Design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0571629-A173-40EC-ADC7-7D18FF20A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675687" cy="52292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Software developers are forced to </a:t>
            </a: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ea typeface="ＭＳ Ｐゴシック" panose="020B0600070205080204" pitchFamily="34" charset="-128"/>
              </a:rPr>
              <a:t>do it all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endParaRPr lang="en-US" altLang="ja-JP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Often based on intuition and experience than on theory-based models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Tendency to let the art of interface design beats its usability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Inconsistent features that do not fit into a good user interface design criteria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en-US" altLang="en-US" sz="160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>
            <a:extLst>
              <a:ext uri="{FF2B5EF4-FFF2-40B4-BE49-F238E27FC236}">
                <a16:creationId xmlns:a16="http://schemas.microsoft.com/office/drawing/2014/main" id="{E7A7C15D-CCCB-45A1-9F81-83CEE989AC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84CB43F-87F8-4C68-8A92-413F599CE05A}" type="slidenum">
              <a:rPr lang="en-US" altLang="en-US" sz="1000"/>
              <a:pPr eaLnBrk="1" hangingPunct="1"/>
              <a:t>8</a:t>
            </a:fld>
            <a:endParaRPr lang="en-US" altLang="en-US" sz="10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730D3BF-3E11-48AA-AE21-EE7DDFBC7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075" y="255588"/>
            <a:ext cx="8229600" cy="1143000"/>
          </a:xfrm>
        </p:spPr>
        <p:txBody>
          <a:bodyPr/>
          <a:lstStyle/>
          <a:p>
            <a:pPr algn="l" eaLnBrk="1" hangingPunct="1"/>
            <a:r>
              <a:rPr lang="en-GB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Why</a:t>
            </a:r>
            <a:r>
              <a:rPr lang="en-GB" altLang="en-US" sz="2400" b="1">
                <a:solidFill>
                  <a:srgbClr val="003366"/>
                </a:solidFill>
                <a:ea typeface="ＭＳ Ｐゴシック" panose="020B0600070205080204" pitchFamily="34" charset="-128"/>
              </a:rPr>
              <a:t> </a:t>
            </a:r>
            <a:r>
              <a:rPr lang="en-GB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Study</a:t>
            </a:r>
            <a:r>
              <a:rPr lang="en-GB" altLang="en-US" sz="2400" b="1">
                <a:solidFill>
                  <a:srgbClr val="003366"/>
                </a:solidFill>
                <a:ea typeface="ＭＳ Ｐゴシック" panose="020B0600070205080204" pitchFamily="34" charset="-128"/>
              </a:rPr>
              <a:t> </a:t>
            </a:r>
            <a:r>
              <a:rPr lang="en-GB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HCI</a:t>
            </a:r>
            <a:r>
              <a:rPr lang="en-GB" altLang="en-US" sz="2400" b="1">
                <a:solidFill>
                  <a:srgbClr val="003366"/>
                </a:solidFill>
                <a:ea typeface="ＭＳ Ｐゴシック" panose="020B0600070205080204" pitchFamily="34" charset="-128"/>
              </a:rPr>
              <a:t>?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ABC0571-19C4-4ECA-825F-B95D6EB68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7993063" cy="4968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Business view 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ea typeface="ＭＳ Ｐゴシック" panose="020B0600070205080204" pitchFamily="34" charset="-128"/>
              </a:rPr>
              <a:t>to </a:t>
            </a:r>
            <a:r>
              <a:rPr lang="en-US" altLang="en-US" sz="2400" b="1" dirty="0">
                <a:ea typeface="ＭＳ Ｐゴシック" panose="020B0600070205080204" pitchFamily="34" charset="-128"/>
              </a:rPr>
              <a:t>employ</a:t>
            </a:r>
            <a:r>
              <a:rPr lang="en-US" altLang="en-US" sz="2400" dirty="0">
                <a:ea typeface="ＭＳ Ｐゴシック" panose="020B0600070205080204" pitchFamily="34" charset="-128"/>
              </a:rPr>
              <a:t> people more productively and effectively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	-	people costs now far outweigh hardware and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      software costs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ea typeface="ＭＳ Ｐゴシック" panose="020B0600070205080204" pitchFamily="34" charset="-128"/>
              </a:rPr>
              <a:t>people now </a:t>
            </a:r>
            <a:r>
              <a:rPr lang="en-US" altLang="en-US" sz="2400" b="1" dirty="0">
                <a:ea typeface="ＭＳ Ｐゴシック" panose="020B0600070205080204" pitchFamily="34" charset="-128"/>
              </a:rPr>
              <a:t>expect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ja-JP" altLang="en-US" sz="2400" dirty="0">
                <a:ea typeface="ＭＳ Ｐゴシック" panose="020B0600070205080204" pitchFamily="34" charset="-128"/>
              </a:rPr>
              <a:t>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easy to use</a:t>
            </a:r>
            <a:r>
              <a:rPr lang="ja-JP" altLang="en-US" sz="2400" dirty="0">
                <a:ea typeface="ＭＳ Ｐゴシック" panose="020B0600070205080204" pitchFamily="34" charset="-128"/>
              </a:rPr>
              <a:t>”</a:t>
            </a:r>
            <a:r>
              <a:rPr lang="en-US" altLang="ja-JP" sz="2400" dirty="0">
                <a:ea typeface="ＭＳ Ｐゴシック" panose="020B0600070205080204" pitchFamily="34" charset="-128"/>
              </a:rPr>
              <a:t> systems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	- generally, they are not tolerant of poorly designed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     systems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	- if a product is hard to use, they will seek other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      products</a:t>
            </a:r>
          </a:p>
          <a:p>
            <a:pPr eaLnBrk="1" hangingPunct="1">
              <a:buFontTx/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1D31D6F4-6E18-4162-99EF-1830C515B3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64551F8-594C-45E4-B7DC-BB11CA10DF13}" type="slidenum">
              <a:rPr lang="en-US" altLang="en-US" sz="1000"/>
              <a:pPr eaLnBrk="1" hangingPunct="1"/>
              <a:t>9</a:t>
            </a:fld>
            <a:endParaRPr lang="en-US" altLang="en-US" sz="10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284EE044-2CC7-4A4A-98B5-7A6D3E6A5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575" y="319088"/>
            <a:ext cx="8229600" cy="1143000"/>
          </a:xfrm>
        </p:spPr>
        <p:txBody>
          <a:bodyPr/>
          <a:lstStyle/>
          <a:p>
            <a:pPr algn="l" eaLnBrk="1" hangingPunct="1"/>
            <a:r>
              <a:rPr lang="en-GB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Why Study HCI?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E612CDC-6564-40CD-953D-460304274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628775"/>
            <a:ext cx="7993062" cy="4968875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120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b="1">
                <a:ea typeface="ＭＳ Ｐゴシック" panose="020B0600070205080204" pitchFamily="34" charset="-128"/>
              </a:rPr>
              <a:t>Human Factors view 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>
                <a:ea typeface="ＭＳ Ｐゴシック" panose="020B0600070205080204" pitchFamily="34" charset="-128"/>
              </a:rPr>
              <a:t>humans have limitations. Errors are costly in terms of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	- loss of time &amp; money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	- loss of lives in critical systems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ea typeface="ＭＳ Ｐゴシック" panose="020B0600070205080204" pitchFamily="34" charset="-128"/>
              </a:rPr>
              <a:t>	- loss of morale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3">
            <a:extLst>
              <a:ext uri="{FF2B5EF4-FFF2-40B4-BE49-F238E27FC236}">
                <a16:creationId xmlns:a16="http://schemas.microsoft.com/office/drawing/2014/main" id="{7F43AB87-DF57-4D80-BB66-626464BC89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5A6BF56-53D5-494F-8449-4497996EBBED}" type="slidenum">
              <a:rPr lang="en-US" altLang="en-US" sz="1000"/>
              <a:pPr eaLnBrk="1" hangingPunct="1"/>
              <a:t>10</a:t>
            </a:fld>
            <a:endParaRPr lang="en-US" altLang="en-US" sz="10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A066E5F-0100-4A0C-B0BD-F9188C3FC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315913"/>
            <a:ext cx="7127875" cy="1143000"/>
          </a:xfrm>
        </p:spPr>
        <p:txBody>
          <a:bodyPr/>
          <a:lstStyle/>
          <a:p>
            <a:pPr algn="l" eaLnBrk="1" hangingPunct="1"/>
            <a:r>
              <a:rPr lang="en-GB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What is HCI</a:t>
            </a: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EE3B5CCE-3C7A-440E-959F-1E3DAA58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420938"/>
            <a:ext cx="8532813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kumimoji="1" lang="en-US" altLang="en-US" sz="2800"/>
              <a:t>Short for </a:t>
            </a:r>
            <a:r>
              <a:rPr kumimoji="1" lang="en-US" altLang="en-US" sz="2800" b="1" i="1"/>
              <a:t>h</a:t>
            </a:r>
            <a:r>
              <a:rPr kumimoji="1" lang="en-US" altLang="en-US" sz="2800" i="1"/>
              <a:t>uman-</a:t>
            </a:r>
            <a:r>
              <a:rPr kumimoji="1" lang="en-US" altLang="en-US" sz="2800" b="1" i="1"/>
              <a:t>c</a:t>
            </a:r>
            <a:r>
              <a:rPr kumimoji="1" lang="en-US" altLang="en-US" sz="2800" i="1"/>
              <a:t>omputer </a:t>
            </a:r>
            <a:r>
              <a:rPr kumimoji="1" lang="en-US" altLang="en-US" sz="2800" b="1" i="1"/>
              <a:t>I</a:t>
            </a:r>
            <a:r>
              <a:rPr kumimoji="1" lang="en-US" altLang="en-US" sz="2800" i="1"/>
              <a:t>nteraction.</a:t>
            </a:r>
          </a:p>
          <a:p>
            <a:pPr algn="just" eaLnBrk="1" hangingPunct="1">
              <a:spcBef>
                <a:spcPct val="30000"/>
              </a:spcBef>
            </a:pPr>
            <a:r>
              <a:rPr kumimoji="1" lang="en-US" altLang="en-US" sz="2800" i="1"/>
              <a:t>A</a:t>
            </a:r>
            <a:r>
              <a:rPr kumimoji="1" lang="en-US" altLang="en-US" sz="2800"/>
              <a:t> discipline concerned with the study, design, construction and implementation of human-centric interactive computer systems.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3">
            <a:extLst>
              <a:ext uri="{FF2B5EF4-FFF2-40B4-BE49-F238E27FC236}">
                <a16:creationId xmlns:a16="http://schemas.microsoft.com/office/drawing/2014/main" id="{DFB24D15-A486-4BB2-B817-C45D851901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51FCF95-C2B1-48C7-9782-63387D7C5520}" type="slidenum">
              <a:rPr lang="en-US" altLang="en-US" sz="1000"/>
              <a:pPr eaLnBrk="1" hangingPunct="1"/>
              <a:t>11</a:t>
            </a:fld>
            <a:endParaRPr lang="en-US" altLang="en-US" sz="10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0054760-71A4-4141-81AD-056F332E1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525" y="295275"/>
            <a:ext cx="8550275" cy="1143000"/>
          </a:xfrm>
        </p:spPr>
        <p:txBody>
          <a:bodyPr/>
          <a:lstStyle/>
          <a:p>
            <a:pPr algn="l" eaLnBrk="1" hangingPunct="1"/>
            <a:r>
              <a:rPr lang="en-GB" altLang="en-US" sz="2800" b="1">
                <a:solidFill>
                  <a:srgbClr val="003366"/>
                </a:solidFill>
                <a:ea typeface="ＭＳ Ｐゴシック" panose="020B0600070205080204" pitchFamily="34" charset="-128"/>
              </a:rPr>
              <a:t>Scope of HCI – many surrounding factors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7B53A56-E91E-4BC7-88C7-06B465DD1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44638"/>
            <a:ext cx="8675687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pPr algn="just" eaLnBrk="1" hangingPunct="1">
              <a:buFontTx/>
              <a:buNone/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HCI is a very broad discipline that encompasses different</a:t>
            </a:r>
          </a:p>
          <a:p>
            <a:pPr algn="just" eaLnBrk="1" hangingPunct="1">
              <a:buFontTx/>
              <a:buNone/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fields with different concerns regarding computer</a:t>
            </a:r>
          </a:p>
          <a:p>
            <a:pPr algn="just" eaLnBrk="1" hangingPunct="1">
              <a:buFontTx/>
              <a:buNone/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Development. Some of the contributing fields:-</a:t>
            </a:r>
          </a:p>
          <a:p>
            <a:pPr algn="just"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computer science </a:t>
            </a:r>
          </a:p>
          <a:p>
            <a:pPr algn="just"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sociology</a:t>
            </a:r>
          </a:p>
          <a:p>
            <a:pPr algn="just"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ergonomics</a:t>
            </a:r>
          </a:p>
          <a:p>
            <a:pPr algn="just"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psychology </a:t>
            </a:r>
          </a:p>
          <a:p>
            <a:pPr algn="just" eaLnBrk="1" hangingPunct="1">
              <a:buFontTx/>
              <a:buNone/>
            </a:pPr>
            <a:endParaRPr lang="en-US" altLang="en-US" sz="2400" b="1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3">
            <a:extLst>
              <a:ext uri="{FF2B5EF4-FFF2-40B4-BE49-F238E27FC236}">
                <a16:creationId xmlns:a16="http://schemas.microsoft.com/office/drawing/2014/main" id="{D2C9FA5C-D302-42ED-B1FD-7B3C762BB5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28B12C-5113-40DE-B2B8-86BE9B5DFE3A}" type="slidenum">
              <a:rPr lang="en-US" altLang="en-US" sz="1000"/>
              <a:pPr eaLnBrk="1" hangingPunct="1"/>
              <a:t>12</a:t>
            </a:fld>
            <a:endParaRPr lang="en-US" altLang="en-US" sz="10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8246524D-F484-474B-B628-4AC705038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75" y="252413"/>
            <a:ext cx="7127875" cy="1143000"/>
          </a:xfrm>
        </p:spPr>
        <p:txBody>
          <a:bodyPr/>
          <a:lstStyle/>
          <a:p>
            <a:pPr algn="l" eaLnBrk="1" hangingPunct="1"/>
            <a:r>
              <a:rPr lang="en-GB" altLang="en-US" sz="3200" b="1">
                <a:solidFill>
                  <a:srgbClr val="003366"/>
                </a:solidFill>
                <a:ea typeface="ＭＳ Ｐゴシック" panose="020B0600070205080204" pitchFamily="34" charset="-128"/>
              </a:rPr>
              <a:t>The goal of HCI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675140F-DE50-4053-8939-0AAB7F33F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9534" y="1773238"/>
            <a:ext cx="8280400" cy="49672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900" b="1" dirty="0">
              <a:ea typeface="ＭＳ Ｐゴシック" panose="020B0600070205080204" pitchFamily="34" charset="-128"/>
            </a:endParaRPr>
          </a:p>
          <a:p>
            <a:pPr marL="0" indent="0" algn="just" eaLnBrk="1" hangingPunct="1">
              <a:buFontTx/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The goals of HCI are to develop or improve the safety, utility (function) and effectiveness of systems that include computers, often through improving usability</a:t>
            </a:r>
            <a:r>
              <a:rPr lang="en-US" altLang="en-US" sz="2800" b="1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buFontTx/>
              <a:buNone/>
            </a:pPr>
            <a:endParaRPr lang="en-US" altLang="en-US" sz="2400" b="1" dirty="0">
              <a:ea typeface="ＭＳ Ｐゴシック" panose="020B0600070205080204" pitchFamily="34" charset="-128"/>
            </a:endParaRPr>
          </a:p>
          <a:p>
            <a:pPr algn="ctr" eaLnBrk="1" hangingPunct="1">
              <a:buFontTx/>
              <a:buNone/>
            </a:pPr>
            <a:endParaRPr lang="en-GB" altLang="en-US" sz="2400" b="1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4">
            <a:extLst>
              <a:ext uri="{FF2B5EF4-FFF2-40B4-BE49-F238E27FC236}">
                <a16:creationId xmlns:a16="http://schemas.microsoft.com/office/drawing/2014/main" id="{8809D341-6636-45D6-B029-0444FEE4E1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98D912B-7E52-4D93-A94A-7EC52B58F9DB}" type="slidenum">
              <a:rPr lang="en-US" altLang="en-US" sz="1000"/>
              <a:pPr eaLnBrk="1" hangingPunct="1"/>
              <a:t>13</a:t>
            </a:fld>
            <a:endParaRPr lang="en-US" altLang="en-US" sz="1000"/>
          </a:p>
        </p:txBody>
      </p:sp>
      <p:sp>
        <p:nvSpPr>
          <p:cNvPr id="37890" name="Text Box 2">
            <a:extLst>
              <a:ext uri="{FF2B5EF4-FFF2-40B4-BE49-F238E27FC236}">
                <a16:creationId xmlns:a16="http://schemas.microsoft.com/office/drawing/2014/main" id="{257B4162-4358-409F-9360-5F4406EC9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373063"/>
            <a:ext cx="5516562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b="1">
                <a:solidFill>
                  <a:srgbClr val="003366"/>
                </a:solidFill>
              </a:rPr>
              <a:t>What is usability?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16D34C6-C669-401B-907D-3B322787338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641475"/>
            <a:ext cx="8229600" cy="10398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400">
                <a:ea typeface="ＭＳ Ｐゴシック" panose="020B0600070205080204" pitchFamily="34" charset="-128"/>
              </a:rPr>
              <a:t>Usability can simply be thought of as the practical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>
                <a:ea typeface="ＭＳ Ｐゴシック" panose="020B0600070205080204" pitchFamily="34" charset="-128"/>
              </a:rPr>
              <a:t>    implementation of good HCI, but, more formally :</a:t>
            </a:r>
          </a:p>
          <a:p>
            <a:pPr eaLnBrk="1" hangingPunct="1">
              <a:lnSpc>
                <a:spcPct val="80000"/>
              </a:lnSpc>
            </a:pPr>
            <a:endParaRPr lang="en-GB" altLang="en-US" sz="2400"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80000"/>
              </a:lnSpc>
              <a:spcBef>
                <a:spcPct val="0"/>
              </a:spcBef>
              <a:spcAft>
                <a:spcPct val="50000"/>
              </a:spcAft>
            </a:pPr>
            <a:r>
              <a:rPr lang="en-GB" altLang="en-US" sz="2400" b="1">
                <a:latin typeface="Tahoma" panose="020B0604030504040204" pitchFamily="34" charset="0"/>
                <a:ea typeface="ＭＳ Ｐゴシック" panose="020B0600070205080204" pitchFamily="34" charset="-128"/>
              </a:rPr>
              <a:t>Usability means </a:t>
            </a:r>
            <a:r>
              <a:rPr lang="en-GB" altLang="en-US" sz="2400" b="1" i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easy to learn</a:t>
            </a:r>
            <a:r>
              <a:rPr lang="en-GB" altLang="en-US" sz="2400" b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, </a:t>
            </a:r>
            <a:r>
              <a:rPr lang="en-GB" altLang="en-US" sz="2400" b="1" i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effective</a:t>
            </a:r>
            <a:r>
              <a:rPr lang="en-GB" altLang="en-US" sz="2400" b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GB" altLang="en-US" sz="2400" b="1" i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to use</a:t>
            </a:r>
            <a:r>
              <a:rPr lang="en-GB" altLang="en-US" sz="2400" b="1">
                <a:latin typeface="Tahoma" panose="020B0604030504040204" pitchFamily="34" charset="0"/>
                <a:ea typeface="ＭＳ Ｐゴシック" panose="020B0600070205080204" pitchFamily="34" charset="-128"/>
              </a:rPr>
              <a:t> and providing an </a:t>
            </a:r>
            <a:r>
              <a:rPr lang="en-GB" altLang="en-US" sz="2400" b="1" i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enjoyable</a:t>
            </a:r>
            <a:r>
              <a:rPr lang="en-GB" altLang="en-US" sz="2400" b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GB" altLang="en-US" sz="2400" b="1" i="1">
                <a:solidFill>
                  <a:srgbClr val="B4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experience</a:t>
            </a:r>
            <a:endParaRPr lang="en-US" altLang="en-US" sz="2400" b="1" i="1">
              <a:solidFill>
                <a:srgbClr val="B4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37892" name="Picture 4" descr="airbag-pc">
            <a:extLst>
              <a:ext uri="{FF2B5EF4-FFF2-40B4-BE49-F238E27FC236}">
                <a16:creationId xmlns:a16="http://schemas.microsoft.com/office/drawing/2014/main" id="{38F3A849-39B5-4A98-8B36-6341DDD9525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7675" y="3387725"/>
            <a:ext cx="3979863" cy="3225800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2">
            <a:extLst>
              <a:ext uri="{FF2B5EF4-FFF2-40B4-BE49-F238E27FC236}">
                <a16:creationId xmlns:a16="http://schemas.microsoft.com/office/drawing/2014/main" id="{06A461F7-5264-4A9F-B4F1-22D8A10DC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B907C53-2AF0-4344-B4F8-DE18A2DC3E3A}" type="slidenum">
              <a:rPr lang="en-US" altLang="en-US" sz="1000"/>
              <a:pPr eaLnBrk="1" hangingPunct="1"/>
              <a:t>14</a:t>
            </a:fld>
            <a:endParaRPr lang="en-US" altLang="en-US" sz="10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1E0CE217-888F-470F-B518-D8DCEDCDE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84467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Aft>
                <a:spcPct val="30000"/>
              </a:spcAft>
            </a:pPr>
            <a:r>
              <a:rPr lang="en-US" altLang="en-US">
                <a:latin typeface="Tahoma" panose="020B0604030504040204" pitchFamily="34" charset="0"/>
              </a:rPr>
              <a:t>UI Development process :</a:t>
            </a:r>
          </a:p>
          <a:p>
            <a:pPr eaLnBrk="1" hangingPunct="1">
              <a:spcAft>
                <a:spcPct val="30000"/>
              </a:spcAft>
              <a:buFontTx/>
              <a:buChar char="•"/>
            </a:pPr>
            <a:r>
              <a:rPr lang="en-US" altLang="en-US">
                <a:latin typeface="Tahoma" panose="020B0604030504040204" pitchFamily="34" charset="0"/>
              </a:rPr>
              <a:t>User Profiling</a:t>
            </a:r>
          </a:p>
          <a:p>
            <a:pPr eaLnBrk="1" hangingPunct="1">
              <a:spcAft>
                <a:spcPct val="30000"/>
              </a:spcAft>
              <a:buFontTx/>
              <a:buChar char="•"/>
            </a:pPr>
            <a:r>
              <a:rPr lang="en-US" altLang="en-US">
                <a:latin typeface="Tahoma" panose="020B0604030504040204" pitchFamily="34" charset="0"/>
              </a:rPr>
              <a:t>Usability goals</a:t>
            </a:r>
          </a:p>
          <a:p>
            <a:pPr eaLnBrk="1" hangingPunct="1">
              <a:spcAft>
                <a:spcPct val="30000"/>
              </a:spcAft>
              <a:buFontTx/>
              <a:buChar char="•"/>
            </a:pPr>
            <a:r>
              <a:rPr lang="en-US" altLang="en-US">
                <a:latin typeface="Tahoma" panose="020B0604030504040204" pitchFamily="34" charset="0"/>
              </a:rPr>
              <a:t>Task analysis &amp; contextual inquiry </a:t>
            </a:r>
          </a:p>
          <a:p>
            <a:pPr eaLnBrk="1" hangingPunct="1">
              <a:spcAft>
                <a:spcPct val="30000"/>
              </a:spcAft>
              <a:buFontTx/>
              <a:buChar char="•"/>
            </a:pPr>
            <a:r>
              <a:rPr lang="en-US" altLang="en-US">
                <a:latin typeface="Tahoma" panose="020B0604030504040204" pitchFamily="34" charset="0"/>
              </a:rPr>
              <a:t>Prototyping </a:t>
            </a:r>
          </a:p>
          <a:p>
            <a:pPr eaLnBrk="1" hangingPunct="1">
              <a:spcAft>
                <a:spcPct val="30000"/>
              </a:spcAft>
              <a:buFontTx/>
              <a:buChar char="•"/>
            </a:pPr>
            <a:r>
              <a:rPr lang="en-US" altLang="en-US">
                <a:latin typeface="Tahoma" panose="020B0604030504040204" pitchFamily="34" charset="0"/>
              </a:rPr>
              <a:t>Evaluation </a:t>
            </a:r>
          </a:p>
          <a:p>
            <a:pPr eaLnBrk="1" hangingPunct="1">
              <a:spcAft>
                <a:spcPct val="30000"/>
              </a:spcAft>
              <a:buFontTx/>
              <a:buChar char="•"/>
            </a:pPr>
            <a:r>
              <a:rPr lang="en-US" altLang="en-US">
                <a:latin typeface="Tahoma" panose="020B0604030504040204" pitchFamily="34" charset="0"/>
              </a:rPr>
              <a:t>Programming 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69147AB0-1F47-4530-B81E-2C73A40C4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550863"/>
            <a:ext cx="85042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rgbClr val="003366"/>
                </a:solidFill>
              </a:rPr>
              <a:t>How to design and build usable UIs?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3">
            <a:extLst>
              <a:ext uri="{FF2B5EF4-FFF2-40B4-BE49-F238E27FC236}">
                <a16:creationId xmlns:a16="http://schemas.microsoft.com/office/drawing/2014/main" id="{FAE1C157-B7F7-4DAB-A502-5DDD4DA9C4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F37BD9F-85EF-4D07-984F-E40A79666D36}" type="slidenum">
              <a:rPr lang="en-US" altLang="en-US" sz="1000"/>
              <a:pPr eaLnBrk="1" hangingPunct="1"/>
              <a:t>15</a:t>
            </a:fld>
            <a:endParaRPr lang="en-US" altLang="en-US" sz="1000"/>
          </a:p>
        </p:txBody>
      </p:sp>
      <p:sp>
        <p:nvSpPr>
          <p:cNvPr id="39938" name="Text Box 2">
            <a:extLst>
              <a:ext uri="{FF2B5EF4-FFF2-40B4-BE49-F238E27FC236}">
                <a16:creationId xmlns:a16="http://schemas.microsoft.com/office/drawing/2014/main" id="{B0C6819C-4DBF-4227-AF7F-12CFD5035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388938"/>
            <a:ext cx="2749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Important!!!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C8C530F-D41C-4949-8F12-AF009069F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lnSpc>
                <a:spcPct val="125000"/>
              </a:lnSpc>
              <a:spcAft>
                <a:spcPct val="50000"/>
              </a:spcAft>
              <a:buFontTx/>
              <a:buChar char="•"/>
            </a:pPr>
            <a:r>
              <a:rPr lang="en-US" altLang="en-US" sz="2800">
                <a:solidFill>
                  <a:srgbClr val="B40000"/>
                </a:solidFill>
                <a:latin typeface="Tahoma" panose="020B0604030504040204" pitchFamily="34" charset="0"/>
              </a:rPr>
              <a:t>users should be involved</a:t>
            </a:r>
            <a:r>
              <a:rPr lang="en-US" altLang="en-US" sz="2800">
                <a:latin typeface="Tahoma" panose="020B0604030504040204" pitchFamily="34" charset="0"/>
              </a:rPr>
              <a:t> throughout the development of the project (How?)</a:t>
            </a:r>
          </a:p>
          <a:p>
            <a:pPr algn="just" eaLnBrk="1" hangingPunct="1">
              <a:lnSpc>
                <a:spcPct val="125000"/>
              </a:lnSpc>
              <a:spcAft>
                <a:spcPct val="50000"/>
              </a:spcAft>
              <a:buFontTx/>
              <a:buChar char="•"/>
            </a:pPr>
            <a:r>
              <a:rPr lang="en-US" altLang="en-US" sz="2800">
                <a:solidFill>
                  <a:srgbClr val="B40000"/>
                </a:solidFill>
                <a:latin typeface="Tahoma" panose="020B0604030504040204" pitchFamily="34" charset="0"/>
              </a:rPr>
              <a:t>specific usability</a:t>
            </a:r>
            <a:r>
              <a:rPr lang="en-US" altLang="en-US" sz="2800">
                <a:latin typeface="Tahoma" panose="020B0604030504040204" pitchFamily="34" charset="0"/>
              </a:rPr>
              <a:t> and </a:t>
            </a:r>
            <a:r>
              <a:rPr lang="en-US" altLang="en-US" sz="2800">
                <a:solidFill>
                  <a:srgbClr val="B40000"/>
                </a:solidFill>
                <a:latin typeface="Tahoma" panose="020B0604030504040204" pitchFamily="34" charset="0"/>
              </a:rPr>
              <a:t>user experience</a:t>
            </a:r>
            <a:r>
              <a:rPr lang="en-US" altLang="en-US" sz="2800">
                <a:latin typeface="Tahoma" panose="020B0604030504040204" pitchFamily="34" charset="0"/>
              </a:rPr>
              <a:t> </a:t>
            </a:r>
            <a:r>
              <a:rPr lang="en-US" altLang="en-US" sz="2800">
                <a:solidFill>
                  <a:srgbClr val="B40000"/>
                </a:solidFill>
                <a:latin typeface="Tahoma" panose="020B0604030504040204" pitchFamily="34" charset="0"/>
              </a:rPr>
              <a:t>goals </a:t>
            </a:r>
            <a:r>
              <a:rPr lang="en-US" altLang="en-US" sz="2800">
                <a:latin typeface="Tahoma" panose="020B0604030504040204" pitchFamily="34" charset="0"/>
              </a:rPr>
              <a:t> need to be </a:t>
            </a:r>
            <a:r>
              <a:rPr lang="en-US" altLang="en-US" sz="2800">
                <a:solidFill>
                  <a:srgbClr val="B40000"/>
                </a:solidFill>
                <a:latin typeface="Tahoma" panose="020B0604030504040204" pitchFamily="34" charset="0"/>
              </a:rPr>
              <a:t>identified, clearly documented</a:t>
            </a:r>
            <a:r>
              <a:rPr lang="en-US" altLang="en-US" sz="2800">
                <a:latin typeface="Tahoma" panose="020B0604030504040204" pitchFamily="34" charset="0"/>
              </a:rPr>
              <a:t> and </a:t>
            </a:r>
            <a:r>
              <a:rPr lang="en-US" altLang="en-US" sz="2800">
                <a:solidFill>
                  <a:srgbClr val="B40000"/>
                </a:solidFill>
                <a:latin typeface="Tahoma" panose="020B0604030504040204" pitchFamily="34" charset="0"/>
              </a:rPr>
              <a:t>agreed</a:t>
            </a:r>
            <a:r>
              <a:rPr lang="en-US" altLang="en-US" sz="2800">
                <a:latin typeface="Tahoma" panose="020B0604030504040204" pitchFamily="34" charset="0"/>
              </a:rPr>
              <a:t> at the beginning of the project</a:t>
            </a:r>
          </a:p>
          <a:p>
            <a:pPr algn="just" eaLnBrk="1" hangingPunct="1">
              <a:lnSpc>
                <a:spcPct val="125000"/>
              </a:lnSpc>
              <a:spcAft>
                <a:spcPct val="50000"/>
              </a:spcAft>
              <a:buFontTx/>
              <a:buChar char="•"/>
            </a:pPr>
            <a:endParaRPr lang="en-GB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>
            <a:extLst>
              <a:ext uri="{FF2B5EF4-FFF2-40B4-BE49-F238E27FC236}">
                <a16:creationId xmlns:a16="http://schemas.microsoft.com/office/drawing/2014/main" id="{2D4A8499-F922-43F4-B867-30A1AFFF04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8DBC572-8D92-4827-AE87-DB59310B3C12}" type="slidenum">
              <a:rPr lang="en-US" altLang="en-US" sz="1000"/>
              <a:pPr eaLnBrk="1" hangingPunct="1"/>
              <a:t>16</a:t>
            </a:fld>
            <a:endParaRPr lang="en-US" altLang="en-US" sz="1000"/>
          </a:p>
        </p:txBody>
      </p:sp>
      <p:sp>
        <p:nvSpPr>
          <p:cNvPr id="40962" name="Text Box 2">
            <a:extLst>
              <a:ext uri="{FF2B5EF4-FFF2-40B4-BE49-F238E27FC236}">
                <a16:creationId xmlns:a16="http://schemas.microsoft.com/office/drawing/2014/main" id="{26E135D8-33F3-4A16-A858-C02077734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361950"/>
            <a:ext cx="587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Understanding interaction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16AA569-B568-4E21-91EE-BE0111017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1204913"/>
            <a:ext cx="8229600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lnSpc>
                <a:spcPct val="125000"/>
              </a:lnSpc>
              <a:spcAft>
                <a:spcPct val="50000"/>
              </a:spcAft>
              <a:buFontTx/>
              <a:buChar char="•"/>
            </a:pPr>
            <a:r>
              <a:rPr lang="en-US" altLang="en-US" sz="2800">
                <a:latin typeface="Tahoma" panose="020B0604030504040204" pitchFamily="34" charset="0"/>
              </a:rPr>
              <a:t>User centric design is the formula for usability</a:t>
            </a:r>
          </a:p>
          <a:p>
            <a:pPr algn="just" eaLnBrk="1" hangingPunct="1">
              <a:spcAft>
                <a:spcPct val="50000"/>
              </a:spcAft>
              <a:buFontTx/>
              <a:buChar char="•"/>
            </a:pPr>
            <a:r>
              <a:rPr lang="en-US" altLang="en-US" sz="2800">
                <a:latin typeface="Tahoma" panose="020B0604030504040204" pitchFamily="34" charset="0"/>
              </a:rPr>
              <a:t>The key to User-centered Design is to understand Interaction</a:t>
            </a:r>
          </a:p>
          <a:p>
            <a:pPr eaLnBrk="1" hangingPunct="1">
              <a:spcAft>
                <a:spcPct val="50000"/>
              </a:spcAft>
              <a:buFontTx/>
              <a:buChar char="•"/>
            </a:pPr>
            <a:r>
              <a:rPr lang="en-US" altLang="en-US" sz="2800">
                <a:latin typeface="Tahoma" panose="020B0604030504040204" pitchFamily="34" charset="0"/>
              </a:rPr>
              <a:t>We need to understand :</a:t>
            </a:r>
          </a:p>
          <a:p>
            <a:pPr lvl="1" eaLnBrk="1" hangingPunct="1">
              <a:spcAft>
                <a:spcPct val="50000"/>
              </a:spcAft>
              <a:buFontTx/>
              <a:buChar char="–"/>
            </a:pPr>
            <a:r>
              <a:rPr lang="en-US" altLang="en-US" sz="2800">
                <a:latin typeface="Tahoma" panose="020B0604030504040204" pitchFamily="34" charset="0"/>
              </a:rPr>
              <a:t>What Interaction is</a:t>
            </a:r>
          </a:p>
          <a:p>
            <a:pPr lvl="1" eaLnBrk="1" hangingPunct="1">
              <a:spcAft>
                <a:spcPct val="50000"/>
              </a:spcAft>
              <a:buFontTx/>
              <a:buChar char="–"/>
            </a:pPr>
            <a:r>
              <a:rPr lang="en-US" altLang="en-US" sz="2800">
                <a:latin typeface="Tahoma" panose="020B0604030504040204" pitchFamily="34" charset="0"/>
              </a:rPr>
              <a:t>What are the elements involved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3">
            <a:extLst>
              <a:ext uri="{FF2B5EF4-FFF2-40B4-BE49-F238E27FC236}">
                <a16:creationId xmlns:a16="http://schemas.microsoft.com/office/drawing/2014/main" id="{D26B6E31-91CE-4065-8641-393C59B767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3A57C05-7949-498D-BFAF-B0661620A861}" type="slidenum">
              <a:rPr lang="en-US" altLang="en-US" sz="1000"/>
              <a:pPr eaLnBrk="1" hangingPunct="1"/>
              <a:t>17</a:t>
            </a:fld>
            <a:endParaRPr lang="en-US" altLang="en-US" sz="1000"/>
          </a:p>
        </p:txBody>
      </p:sp>
      <p:sp>
        <p:nvSpPr>
          <p:cNvPr id="41986" name="Text Box 2">
            <a:extLst>
              <a:ext uri="{FF2B5EF4-FFF2-40B4-BE49-F238E27FC236}">
                <a16:creationId xmlns:a16="http://schemas.microsoft.com/office/drawing/2014/main" id="{C2E60F2E-2A7B-426A-A86B-C6179AF11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260350"/>
            <a:ext cx="3968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Interaction Model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8FFE946-5FDC-40C9-B0EA-88A95F1A1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124936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dirty="0">
                <a:latin typeface="Tahoma" panose="020B0604030504040204" pitchFamily="34" charset="0"/>
              </a:rPr>
              <a:t>The most influential model of interaction is Donald Norman</a:t>
            </a:r>
            <a:r>
              <a:rPr lang="ja-JP" altLang="en-US" sz="2800" dirty="0">
                <a:latin typeface="Tahoma" panose="020B0604030504040204" pitchFamily="34" charset="0"/>
              </a:rPr>
              <a:t>’</a:t>
            </a:r>
            <a:r>
              <a:rPr lang="en-US" altLang="ja-JP" sz="2800" dirty="0">
                <a:latin typeface="Tahoma" panose="020B0604030504040204" pitchFamily="34" charset="0"/>
              </a:rPr>
              <a:t>s (</a:t>
            </a:r>
            <a:r>
              <a:rPr lang="en-US" altLang="ja-JP" sz="2800" dirty="0">
                <a:latin typeface="Tahoma" panose="020B0604030504040204" pitchFamily="34" charset="0"/>
                <a:hlinkClick r:id="rId2"/>
              </a:rPr>
              <a:t>http://www.jnd.org/</a:t>
            </a:r>
            <a:r>
              <a:rPr lang="en-US" altLang="ja-JP" sz="2800" dirty="0">
                <a:latin typeface="Tahoma" panose="020B0604030504040204" pitchFamily="34" charset="0"/>
              </a:rPr>
              <a:t>) :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en-US" sz="2800" dirty="0">
                <a:latin typeface="Tahoma" panose="020B0604030504040204" pitchFamily="34" charset="0"/>
              </a:rPr>
              <a:t>	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en-US" sz="2800" b="1" dirty="0">
                <a:solidFill>
                  <a:srgbClr val="CA143B"/>
                </a:solidFill>
                <a:latin typeface="Tahoma" panose="020B0604030504040204" pitchFamily="34" charset="0"/>
              </a:rPr>
              <a:t>Execution-Evaluation cycle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dirty="0">
                <a:latin typeface="Tahoma" panose="020B0604030504040204" pitchFamily="34" charset="0"/>
              </a:rPr>
              <a:t>Norman divides interaction into :</a:t>
            </a:r>
          </a:p>
          <a:p>
            <a:pPr lvl="1" algn="just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 b="1" dirty="0">
                <a:latin typeface="Tahoma" panose="020B0604030504040204" pitchFamily="34" charset="0"/>
              </a:rPr>
              <a:t>Execution </a:t>
            </a:r>
          </a:p>
          <a:p>
            <a:pPr lvl="2" algn="just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dirty="0">
                <a:latin typeface="Tahoma" panose="020B0604030504040204" pitchFamily="34" charset="0"/>
              </a:rPr>
              <a:t>User activities aimed at making the system do something</a:t>
            </a:r>
          </a:p>
          <a:p>
            <a:pPr lvl="1" algn="just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800" b="1" dirty="0">
                <a:latin typeface="Tahoma" panose="020B0604030504040204" pitchFamily="34" charset="0"/>
              </a:rPr>
              <a:t>Evaluation </a:t>
            </a:r>
          </a:p>
          <a:p>
            <a:pPr lvl="2" algn="just"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 dirty="0">
                <a:latin typeface="Tahoma" panose="020B0604030504040204" pitchFamily="34" charset="0"/>
              </a:rPr>
              <a:t>Evaluating whether the system did actually do what they wanted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2228CAFE-120F-4BCC-B8CC-A7037C1949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CB6AED-55F0-4AD6-A234-5156E409BDE2}" type="slidenum">
              <a:rPr lang="en-US" altLang="en-US" sz="1000"/>
              <a:pPr eaLnBrk="1" hangingPunct="1"/>
              <a:t>18</a:t>
            </a:fld>
            <a:endParaRPr lang="en-US" altLang="en-US" sz="1000"/>
          </a:p>
        </p:txBody>
      </p:sp>
      <p:sp>
        <p:nvSpPr>
          <p:cNvPr id="43010" name="Text Box 2">
            <a:extLst>
              <a:ext uri="{FF2B5EF4-FFF2-40B4-BE49-F238E27FC236}">
                <a16:creationId xmlns:a16="http://schemas.microsoft.com/office/drawing/2014/main" id="{6FDE9BA2-F4E9-4D70-B4FE-3E3CEF974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279400"/>
            <a:ext cx="587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Understanding Interaction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902E16E-012D-48B1-99B3-C5D3F31E7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843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Aft>
                <a:spcPct val="50000"/>
              </a:spcAft>
            </a:pPr>
            <a:r>
              <a:rPr lang="en-US" altLang="en-US" sz="2800" b="1">
                <a:latin typeface="Tahoma" panose="020B0604030504040204" pitchFamily="34" charset="0"/>
              </a:rPr>
              <a:t>Execution</a:t>
            </a:r>
            <a:r>
              <a:rPr lang="en-US" altLang="en-US">
                <a:latin typeface="Tahoma" panose="020B0604030504040204" pitchFamily="34" charset="0"/>
              </a:rPr>
              <a:t> </a:t>
            </a:r>
          </a:p>
          <a:p>
            <a:pPr lvl="1" algn="just" eaLnBrk="1" hangingPunct="1">
              <a:spcAft>
                <a:spcPct val="50000"/>
              </a:spcAft>
              <a:buFontTx/>
              <a:buChar char="–"/>
            </a:pPr>
            <a:r>
              <a:rPr lang="en-US" altLang="en-US" sz="2800">
                <a:latin typeface="Tahoma" panose="020B0604030504040204" pitchFamily="34" charset="0"/>
              </a:rPr>
              <a:t>If User cannot make system do what they want</a:t>
            </a:r>
          </a:p>
          <a:p>
            <a:pPr lvl="2" algn="just" eaLnBrk="1" hangingPunct="1">
              <a:spcAft>
                <a:spcPct val="50000"/>
              </a:spcAft>
              <a:buFontTx/>
              <a:buChar char="•"/>
            </a:pPr>
            <a:r>
              <a:rPr lang="en-US" altLang="en-US" sz="2800">
                <a:latin typeface="Tahoma" panose="020B0604030504040204" pitchFamily="34" charset="0"/>
              </a:rPr>
              <a:t>e.g. cannot understand how to do it, unclear icons, unclear indication etc.</a:t>
            </a:r>
          </a:p>
          <a:p>
            <a:pPr lvl="1" algn="just" eaLnBrk="1" hangingPunct="1">
              <a:spcAft>
                <a:spcPct val="50000"/>
              </a:spcAft>
              <a:buFontTx/>
              <a:buChar char="–"/>
            </a:pPr>
            <a:r>
              <a:rPr lang="en-US" altLang="en-US" sz="2800">
                <a:latin typeface="Tahoma" panose="020B0604030504040204" pitchFamily="34" charset="0"/>
              </a:rPr>
              <a:t>Will result in the Gulf of Execution</a:t>
            </a:r>
          </a:p>
          <a:p>
            <a:pPr lvl="2" algn="just" eaLnBrk="1" hangingPunct="1">
              <a:spcAft>
                <a:spcPct val="50000"/>
              </a:spcAft>
              <a:buFontTx/>
              <a:buChar char="•"/>
            </a:pPr>
            <a:r>
              <a:rPr lang="en-US" altLang="en-US" sz="2800">
                <a:latin typeface="Tahoma" panose="020B0604030504040204" pitchFamily="34" charset="0"/>
              </a:rPr>
              <a:t>i.e. difference between the user</a:t>
            </a:r>
            <a:r>
              <a:rPr lang="ja-JP" altLang="en-US" sz="2800">
                <a:latin typeface="Tahoma" panose="020B0604030504040204" pitchFamily="34" charset="0"/>
              </a:rPr>
              <a:t>’</a:t>
            </a:r>
            <a:r>
              <a:rPr lang="en-US" altLang="ja-JP" sz="2800">
                <a:latin typeface="Tahoma" panose="020B0604030504040204" pitchFamily="34" charset="0"/>
              </a:rPr>
              <a:t>s formulation of the action and the actions allowed by the system</a:t>
            </a:r>
            <a:endParaRPr lang="en-US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3">
            <a:extLst>
              <a:ext uri="{FF2B5EF4-FFF2-40B4-BE49-F238E27FC236}">
                <a16:creationId xmlns:a16="http://schemas.microsoft.com/office/drawing/2014/main" id="{3BC49F13-8C27-4DE0-84BA-D57043C945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3882D2D-FBF8-4433-BBF1-F3EF14ECB027}" type="slidenum">
              <a:rPr lang="en-US" altLang="en-US" sz="1000"/>
              <a:pPr eaLnBrk="1" hangingPunct="1"/>
              <a:t>19</a:t>
            </a:fld>
            <a:endParaRPr lang="en-US" altLang="en-US" sz="1000"/>
          </a:p>
        </p:txBody>
      </p:sp>
      <p:sp>
        <p:nvSpPr>
          <p:cNvPr id="44034" name="Text Box 2">
            <a:extLst>
              <a:ext uri="{FF2B5EF4-FFF2-40B4-BE49-F238E27FC236}">
                <a16:creationId xmlns:a16="http://schemas.microsoft.com/office/drawing/2014/main" id="{E5A9DAE6-6C16-4E4E-BC6D-03ACE0C3C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247650"/>
            <a:ext cx="587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Understanding interaction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68BEE3B-75E1-4C1B-A1EB-74ACF673B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12875"/>
            <a:ext cx="8686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Aft>
                <a:spcPct val="50000"/>
              </a:spcAft>
            </a:pPr>
            <a:r>
              <a:rPr lang="en-US" altLang="en-US" sz="2800" b="1">
                <a:latin typeface="Tahoma" panose="020B0604030504040204" pitchFamily="34" charset="0"/>
              </a:rPr>
              <a:t>Evaluation </a:t>
            </a:r>
          </a:p>
          <a:p>
            <a:pPr lvl="1" algn="just" eaLnBrk="1" hangingPunct="1">
              <a:spcAft>
                <a:spcPct val="50000"/>
              </a:spcAft>
              <a:buFontTx/>
              <a:buChar char="–"/>
            </a:pPr>
            <a:r>
              <a:rPr lang="en-US" altLang="en-US" sz="2800">
                <a:latin typeface="Tahoma" panose="020B0604030504040204" pitchFamily="34" charset="0"/>
              </a:rPr>
              <a:t>If user cannot see what happened to system</a:t>
            </a:r>
          </a:p>
          <a:p>
            <a:pPr lvl="2" algn="just" eaLnBrk="1" hangingPunct="1">
              <a:spcAft>
                <a:spcPct val="50000"/>
              </a:spcAft>
              <a:buFontTx/>
              <a:buChar char="•"/>
            </a:pPr>
            <a:r>
              <a:rPr lang="en-US" altLang="en-US" sz="2800">
                <a:latin typeface="Tahoma" panose="020B0604030504040204" pitchFamily="34" charset="0"/>
              </a:rPr>
              <a:t>e.g. if system has done what they want but no feedback is given to the users etc.</a:t>
            </a:r>
          </a:p>
          <a:p>
            <a:pPr lvl="1" algn="just" eaLnBrk="1" hangingPunct="1">
              <a:spcAft>
                <a:spcPct val="50000"/>
              </a:spcAft>
              <a:buFontTx/>
              <a:buChar char="–"/>
            </a:pPr>
            <a:r>
              <a:rPr lang="en-US" altLang="en-US" sz="2800">
                <a:latin typeface="Tahoma" panose="020B0604030504040204" pitchFamily="34" charset="0"/>
              </a:rPr>
              <a:t>Will result in the Gulf of Evaluation</a:t>
            </a:r>
          </a:p>
          <a:p>
            <a:pPr lvl="2" algn="just" eaLnBrk="1" hangingPunct="1">
              <a:spcAft>
                <a:spcPct val="50000"/>
              </a:spcAft>
              <a:buFontTx/>
              <a:buChar char="•"/>
            </a:pPr>
            <a:r>
              <a:rPr lang="en-US" altLang="en-US" sz="2800">
                <a:latin typeface="Tahoma" panose="020B0604030504040204" pitchFamily="34" charset="0"/>
              </a:rPr>
              <a:t>i.e. difference between the representation of the system state/result and the expectations of the user</a:t>
            </a:r>
          </a:p>
          <a:p>
            <a:pPr algn="ctr" eaLnBrk="1" hangingPunct="1">
              <a:spcAft>
                <a:spcPct val="50000"/>
              </a:spcAft>
            </a:pPr>
            <a:r>
              <a:rPr lang="en-US" altLang="en-US" sz="3200" b="1">
                <a:solidFill>
                  <a:srgbClr val="990000"/>
                </a:solidFill>
                <a:latin typeface="Tahoma" panose="020B0604030504040204" pitchFamily="34" charset="0"/>
              </a:rPr>
              <a:t>Good Design aims to reduce these gulfs</a:t>
            </a:r>
          </a:p>
          <a:p>
            <a:pPr lvl="2" algn="just" eaLnBrk="1" hangingPunct="1">
              <a:spcAft>
                <a:spcPct val="50000"/>
              </a:spcAft>
              <a:buFontTx/>
              <a:buChar char="•"/>
            </a:pPr>
            <a:endParaRPr lang="en-US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>
            <a:extLst>
              <a:ext uri="{FF2B5EF4-FFF2-40B4-BE49-F238E27FC236}">
                <a16:creationId xmlns:a16="http://schemas.microsoft.com/office/drawing/2014/main" id="{DDF6589F-92D5-435B-BC63-057465D8B9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F57659D-4C14-4DBB-938C-AAE9C4B7B1AF}" type="slidenum">
              <a:rPr lang="en-US" altLang="en-US" sz="1000"/>
              <a:pPr eaLnBrk="1" hangingPunct="1"/>
              <a:t>20</a:t>
            </a:fld>
            <a:endParaRPr lang="en-US" altLang="en-US" sz="10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912EF59-DB68-4303-A8EB-B2DA6846F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0513" y="252413"/>
            <a:ext cx="8229600" cy="1143000"/>
          </a:xfrm>
        </p:spPr>
        <p:txBody>
          <a:bodyPr/>
          <a:lstStyle/>
          <a:p>
            <a:pPr algn="l" eaLnBrk="1" hangingPunct="1"/>
            <a:r>
              <a:rPr lang="en-GB" altLang="en-US" b="1">
                <a:solidFill>
                  <a:srgbClr val="003366"/>
                </a:solidFill>
                <a:ea typeface="ＭＳ Ｐゴシック" panose="020B0600070205080204" pitchFamily="34" charset="-128"/>
              </a:rPr>
              <a:t>Dimensions of Usability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1939514-A28D-4CFF-A301-B6A580BCD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80400" cy="4419600"/>
          </a:xfrm>
        </p:spPr>
        <p:txBody>
          <a:bodyPr/>
          <a:lstStyle/>
          <a:p>
            <a:pPr eaLnBrk="1" hangingPunct="1"/>
            <a:r>
              <a:rPr lang="en-GB" altLang="en-US" sz="2800">
                <a:ea typeface="ＭＳ Ｐゴシック" panose="020B0600070205080204" pitchFamily="34" charset="-128"/>
              </a:rPr>
              <a:t>Does the user feel in control of the application ?</a:t>
            </a:r>
          </a:p>
          <a:p>
            <a:pPr eaLnBrk="1" hangingPunct="1"/>
            <a:r>
              <a:rPr lang="en-GB" altLang="en-US" sz="2800">
                <a:ea typeface="ＭＳ Ｐゴシック" panose="020B0600070205080204" pitchFamily="34" charset="-128"/>
              </a:rPr>
              <a:t>To what extent can the user achieve their goals using the application ?</a:t>
            </a:r>
          </a:p>
          <a:p>
            <a:pPr eaLnBrk="1" hangingPunct="1"/>
            <a:r>
              <a:rPr lang="en-GB" altLang="en-US" sz="2800">
                <a:ea typeface="ＭＳ Ｐゴシック" panose="020B0600070205080204" pitchFamily="34" charset="-128"/>
              </a:rPr>
              <a:t>How far does the product appear to assist the user ?</a:t>
            </a:r>
          </a:p>
          <a:p>
            <a:pPr eaLnBrk="1" hangingPunct="1"/>
            <a:r>
              <a:rPr lang="en-GB" altLang="en-US" sz="2800">
                <a:ea typeface="ＭＳ Ｐゴシック" panose="020B0600070205080204" pitchFamily="34" charset="-128"/>
              </a:rPr>
              <a:t>How easy is the application to learn ?</a:t>
            </a:r>
          </a:p>
          <a:p>
            <a:pPr eaLnBrk="1" hangingPunct="1"/>
            <a:r>
              <a:rPr lang="en-GB" altLang="en-US" sz="2800">
                <a:ea typeface="ＭＳ Ｐゴシック" panose="020B0600070205080204" pitchFamily="34" charset="-128"/>
              </a:rPr>
              <a:t>How does the user respond emotionally ?</a:t>
            </a:r>
            <a:endParaRPr lang="en-US" altLang="en-US" sz="2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Footer Placeholder 3">
            <a:extLst>
              <a:ext uri="{FF2B5EF4-FFF2-40B4-BE49-F238E27FC236}">
                <a16:creationId xmlns:a16="http://schemas.microsoft.com/office/drawing/2014/main" id="{822BEAA0-2CFA-4333-875E-CB191A79BF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27296F1-C7EB-4705-B27A-9B631E5E8E3A}" type="slidenum">
              <a:rPr lang="en-US" altLang="en-US" sz="1000"/>
              <a:pPr eaLnBrk="1" hangingPunct="1"/>
              <a:t>21</a:t>
            </a:fld>
            <a:endParaRPr lang="en-US" altLang="en-US" sz="1000"/>
          </a:p>
        </p:txBody>
      </p:sp>
      <p:sp>
        <p:nvSpPr>
          <p:cNvPr id="46082" name="Text Box 2">
            <a:extLst>
              <a:ext uri="{FF2B5EF4-FFF2-40B4-BE49-F238E27FC236}">
                <a16:creationId xmlns:a16="http://schemas.microsoft.com/office/drawing/2014/main" id="{41075E10-F44B-4EAA-97EB-346BA8A24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387350"/>
            <a:ext cx="765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Summary of Main Teaching Points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0C7E12A5-1293-4343-A535-C9A6FDBAB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1806575"/>
            <a:ext cx="7745412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en-GB" altLang="en-US" sz="3200" dirty="0"/>
              <a:t> Common issues in interface design</a:t>
            </a:r>
          </a:p>
          <a:p>
            <a:pPr eaLnBrk="1" hangingPunct="1">
              <a:buFontTx/>
              <a:buChar char="•"/>
            </a:pPr>
            <a:r>
              <a:rPr lang="en-GB" altLang="en-US" sz="3200" dirty="0"/>
              <a:t>  The reason behind HCI</a:t>
            </a:r>
          </a:p>
          <a:p>
            <a:pPr eaLnBrk="1" hangingPunct="1">
              <a:buFontTx/>
              <a:buChar char="•"/>
            </a:pPr>
            <a:r>
              <a:rPr lang="en-GB" altLang="en-US" sz="3200" dirty="0"/>
              <a:t>  HCI definition</a:t>
            </a:r>
          </a:p>
          <a:p>
            <a:pPr eaLnBrk="1" hangingPunct="1">
              <a:buFontTx/>
              <a:buChar char="•"/>
            </a:pPr>
            <a:r>
              <a:rPr lang="en-GB" altLang="en-US" sz="3200" dirty="0"/>
              <a:t>  The many scopes of HCI</a:t>
            </a:r>
          </a:p>
          <a:p>
            <a:pPr eaLnBrk="1" hangingPunct="1">
              <a:buFontTx/>
              <a:buChar char="•"/>
            </a:pPr>
            <a:r>
              <a:rPr lang="en-GB" altLang="en-US" sz="3200" dirty="0"/>
              <a:t>  Usability</a:t>
            </a:r>
          </a:p>
          <a:p>
            <a:pPr eaLnBrk="1" hangingPunct="1">
              <a:buFontTx/>
              <a:buChar char="•"/>
            </a:pPr>
            <a:r>
              <a:rPr lang="en-GB" altLang="en-US" sz="3200" dirty="0"/>
              <a:t>  Designing for usability</a:t>
            </a:r>
          </a:p>
          <a:p>
            <a:pPr eaLnBrk="1" hangingPunct="1">
              <a:buFontTx/>
              <a:buChar char="•"/>
            </a:pPr>
            <a:r>
              <a:rPr lang="en-GB" altLang="en-US" sz="3200" dirty="0"/>
              <a:t>  Understanding interaction</a:t>
            </a:r>
          </a:p>
          <a:p>
            <a:pPr eaLnBrk="1" hangingPunct="1">
              <a:buFontTx/>
              <a:buChar char="•"/>
            </a:pPr>
            <a:endParaRPr lang="en-GB" altLang="en-US" dirty="0"/>
          </a:p>
          <a:p>
            <a:pPr eaLnBrk="1" hangingPunct="1">
              <a:buFontTx/>
              <a:buChar char="•"/>
            </a:pPr>
            <a:endParaRPr lang="en-GB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Footer Placeholder 3">
            <a:extLst>
              <a:ext uri="{FF2B5EF4-FFF2-40B4-BE49-F238E27FC236}">
                <a16:creationId xmlns:a16="http://schemas.microsoft.com/office/drawing/2014/main" id="{F8798E78-3CDF-4922-9C5D-233594BD43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231AB1D-8B92-4F91-A2C9-1AF29843A669}" type="slidenum">
              <a:rPr lang="en-US" altLang="en-US" sz="1000"/>
              <a:pPr eaLnBrk="1" hangingPunct="1"/>
              <a:t>22</a:t>
            </a:fld>
            <a:endParaRPr lang="en-US" altLang="en-US" sz="1000"/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E57C0F44-AC84-4922-8255-0B41929C8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0"/>
            <a:ext cx="496887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9600"/>
              <a:t>Q &amp; A</a:t>
            </a:r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FF0D0D77-AB31-4210-89A5-4C282DAD5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387350"/>
            <a:ext cx="676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Question and Answer Session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A0C5691E-3E83-40D6-842A-6821316F54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64DAB59-7EA5-495F-A017-B2A895E05F9F}" type="slidenum">
              <a:rPr lang="en-US" altLang="en-US" sz="1000"/>
              <a:pPr eaLnBrk="1" hangingPunct="1"/>
              <a:t>23</a:t>
            </a:fld>
            <a:endParaRPr lang="en-US" altLang="en-US" sz="1000"/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7100BC89-80ED-43D1-82A5-E77914253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52588"/>
            <a:ext cx="576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/>
              <a:t>Topic and Structure of next session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E7E476C6-D199-4022-BDB9-130C87A40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374650"/>
            <a:ext cx="305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003366"/>
                </a:solidFill>
              </a:rPr>
              <a:t>Next Session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81041A5C-E433-439B-8D14-3AE707DC0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2716213"/>
            <a:ext cx="2776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b="1"/>
              <a:t>Human Factors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5|0.5|0.4"/>
</p:tagLst>
</file>

<file path=ppt/theme/theme1.xml><?xml version="1.0" encoding="utf-8"?>
<a:theme xmlns:a="http://schemas.openxmlformats.org/drawingml/2006/main" name="UCTI-Template-level-1">
  <a:themeElements>
    <a:clrScheme name="UCTI-Template-level-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level-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level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level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level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9E790EA2C72D4B85AD768B6C3A5234" ma:contentTypeVersion="3" ma:contentTypeDescription="Create a new document." ma:contentTypeScope="" ma:versionID="4d2dbe72348f32da934db851ceccfa81">
  <xsd:schema xmlns:xsd="http://www.w3.org/2001/XMLSchema" xmlns:xs="http://www.w3.org/2001/XMLSchema" xmlns:p="http://schemas.microsoft.com/office/2006/metadata/properties" xmlns:ns2="9b3d8dfa-08fc-43f8-95e9-2e9541090cea" targetNamespace="http://schemas.microsoft.com/office/2006/metadata/properties" ma:root="true" ma:fieldsID="7e6912f2426e0a3b3b356832a776d4fa" ns2:_="">
    <xsd:import namespace="9b3d8dfa-08fc-43f8-95e9-2e9541090c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3d8dfa-08fc-43f8-95e9-2e9541090c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6A920D-EA74-4466-BB35-8EE6581C1B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8B91AE-00C8-4A08-9920-184DC49FA2C1}"/>
</file>

<file path=customXml/itemProps3.xml><?xml version="1.0" encoding="utf-8"?>
<ds:datastoreItem xmlns:ds="http://schemas.openxmlformats.org/officeDocument/2006/customXml" ds:itemID="{7CE559BB-32EA-4A07-AE58-C11CAD405E4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UCTI-Template-level-1</Template>
  <TotalTime>3742</TotalTime>
  <Pages>11</Pages>
  <Words>1162</Words>
  <Application>Microsoft Office PowerPoint</Application>
  <PresentationFormat>On-screen Show (4:3)</PresentationFormat>
  <Paragraphs>176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Book Antiqua</vt:lpstr>
      <vt:lpstr>Calibri</vt:lpstr>
      <vt:lpstr>Tahoma</vt:lpstr>
      <vt:lpstr>Wingdings</vt:lpstr>
      <vt:lpstr>UCTI-Template-level-1</vt:lpstr>
      <vt:lpstr>Human Computer Interaction CT026-3-2-HCI and Version: September 2018</vt:lpstr>
      <vt:lpstr>PowerPoint Presentation</vt:lpstr>
      <vt:lpstr>PowerPoint Presentation</vt:lpstr>
      <vt:lpstr>PowerPoint Presentation</vt:lpstr>
      <vt:lpstr>Why Systems Fail?</vt:lpstr>
      <vt:lpstr>The Perfect User (that every designer wishes for)</vt:lpstr>
      <vt:lpstr>Common Issues in User Interface Design</vt:lpstr>
      <vt:lpstr>Why Study HCI?</vt:lpstr>
      <vt:lpstr>Why Study HCI?</vt:lpstr>
      <vt:lpstr>What is HCI</vt:lpstr>
      <vt:lpstr>Scope of HCI – many surrounding factors</vt:lpstr>
      <vt:lpstr>The goal of HCI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Dimensions of Usability</vt:lpstr>
      <vt:lpstr>PowerPoint Presentation</vt:lpstr>
      <vt:lpstr>PowerPoint Presentation</vt:lpstr>
      <vt:lpstr>PowerPoint Presentation</vt:lpstr>
    </vt:vector>
  </TitlesOfParts>
  <Company>APIIT SDN BHD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CT024-3-1 Professional &amp; Enterprise Development</dc:title>
  <dc:subject>MSc</dc:subject>
  <dc:creator>APIIT</dc:creator>
  <cp:keywords/>
  <dc:description/>
  <cp:lastModifiedBy>Naresh Kumar Appadurai</cp:lastModifiedBy>
  <cp:revision>80</cp:revision>
  <cp:lastPrinted>2018-11-30T03:33:36Z</cp:lastPrinted>
  <dcterms:created xsi:type="dcterms:W3CDTF">2006-12-29T06:44:03Z</dcterms:created>
  <dcterms:modified xsi:type="dcterms:W3CDTF">2024-02-27T05:02:08Z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0x010100D29E790EA2C72D4B85AD768B6C3A5234</vt:lpwstr>
  </property>
</Properties>
</file>