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1" r:id="rId4"/>
  </p:sldMasterIdLst>
  <p:notesMasterIdLst>
    <p:notesMasterId r:id="rId30"/>
  </p:notesMasterIdLst>
  <p:handoutMasterIdLst>
    <p:handoutMasterId r:id="rId31"/>
  </p:handoutMasterIdLst>
  <p:sldIdLst>
    <p:sldId id="352" r:id="rId5"/>
    <p:sldId id="595" r:id="rId6"/>
    <p:sldId id="596" r:id="rId7"/>
    <p:sldId id="597" r:id="rId8"/>
    <p:sldId id="631" r:id="rId9"/>
    <p:sldId id="632" r:id="rId10"/>
    <p:sldId id="633" r:id="rId11"/>
    <p:sldId id="598" r:id="rId12"/>
    <p:sldId id="599" r:id="rId13"/>
    <p:sldId id="600" r:id="rId14"/>
    <p:sldId id="601" r:id="rId15"/>
    <p:sldId id="602" r:id="rId16"/>
    <p:sldId id="603" r:id="rId17"/>
    <p:sldId id="604" r:id="rId18"/>
    <p:sldId id="636" r:id="rId19"/>
    <p:sldId id="637" r:id="rId20"/>
    <p:sldId id="605" r:id="rId21"/>
    <p:sldId id="639" r:id="rId22"/>
    <p:sldId id="640" r:id="rId23"/>
    <p:sldId id="641" r:id="rId24"/>
    <p:sldId id="642" r:id="rId25"/>
    <p:sldId id="629" r:id="rId26"/>
    <p:sldId id="630" r:id="rId27"/>
    <p:sldId id="643" r:id="rId28"/>
    <p:sldId id="634" r:id="rId29"/>
  </p:sldIdLst>
  <p:sldSz cx="9144000" cy="6858000" type="screen4x3"/>
  <p:notesSz cx="6858000" cy="9777413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frameSlides="1"/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2FFA3"/>
    <a:srgbClr val="A2C1FE"/>
    <a:srgbClr val="FCFEB9"/>
    <a:srgbClr val="CECECE"/>
    <a:srgbClr val="C1CEFF"/>
    <a:srgbClr val="D1D3CA"/>
    <a:srgbClr val="CA143B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2453F4-9973-4C5B-9857-B77326E93D0E}" v="57" dt="2024-06-04T03:30:10.5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1162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resh Kumar Appadurai" userId="964b10c7-5270-4f75-aefb-832a8d5a6d51" providerId="ADAL" clId="{220E98ED-CBF4-4AEB-BBD8-8847544D42CC}"/>
    <pc:docChg chg="modSld">
      <pc:chgData name="Naresh Kumar Appadurai" userId="964b10c7-5270-4f75-aefb-832a8d5a6d51" providerId="ADAL" clId="{220E98ED-CBF4-4AEB-BBD8-8847544D42CC}" dt="2022-10-11T02:25:20.408" v="9" actId="20577"/>
      <pc:docMkLst>
        <pc:docMk/>
      </pc:docMkLst>
      <pc:sldChg chg="modSp mod">
        <pc:chgData name="Naresh Kumar Appadurai" userId="964b10c7-5270-4f75-aefb-832a8d5a6d51" providerId="ADAL" clId="{220E98ED-CBF4-4AEB-BBD8-8847544D42CC}" dt="2022-10-11T02:25:20.408" v="9" actId="20577"/>
        <pc:sldMkLst>
          <pc:docMk/>
          <pc:sldMk cId="0" sldId="604"/>
        </pc:sldMkLst>
        <pc:spChg chg="mod">
          <ac:chgData name="Naresh Kumar Appadurai" userId="964b10c7-5270-4f75-aefb-832a8d5a6d51" providerId="ADAL" clId="{220E98ED-CBF4-4AEB-BBD8-8847544D42CC}" dt="2022-10-11T02:25:20.408" v="9" actId="20577"/>
          <ac:spMkLst>
            <pc:docMk/>
            <pc:sldMk cId="0" sldId="604"/>
            <ac:spMk id="37891" creationId="{00000000-0000-0000-0000-000000000000}"/>
          </ac:spMkLst>
        </pc:spChg>
      </pc:sldChg>
    </pc:docChg>
  </pc:docChgLst>
  <pc:docChgLst>
    <pc:chgData name="Naresh Kumar Appadurai" userId="964b10c7-5270-4f75-aefb-832a8d5a6d51" providerId="ADAL" clId="{732453F4-9973-4C5B-9857-B77326E93D0E}"/>
    <pc:docChg chg="custSel delSld modSld">
      <pc:chgData name="Naresh Kumar Appadurai" userId="964b10c7-5270-4f75-aefb-832a8d5a6d51" providerId="ADAL" clId="{732453F4-9973-4C5B-9857-B77326E93D0E}" dt="2024-06-04T03:30:10.576" v="122" actId="20577"/>
      <pc:docMkLst>
        <pc:docMk/>
      </pc:docMkLst>
      <pc:sldChg chg="modSp del mod">
        <pc:chgData name="Naresh Kumar Appadurai" userId="964b10c7-5270-4f75-aefb-832a8d5a6d51" providerId="ADAL" clId="{732453F4-9973-4C5B-9857-B77326E93D0E}" dt="2024-06-04T03:27:03.654" v="65" actId="47"/>
        <pc:sldMkLst>
          <pc:docMk/>
          <pc:sldMk cId="0" sldId="594"/>
        </pc:sldMkLst>
        <pc:spChg chg="mod">
          <ac:chgData name="Naresh Kumar Appadurai" userId="964b10c7-5270-4f75-aefb-832a8d5a6d51" providerId="ADAL" clId="{732453F4-9973-4C5B-9857-B77326E93D0E}" dt="2024-06-04T03:26:53.492" v="64" actId="14100"/>
          <ac:spMkLst>
            <pc:docMk/>
            <pc:sldMk cId="0" sldId="594"/>
            <ac:spMk id="19460" creationId="{00000000-0000-0000-0000-000000000000}"/>
          </ac:spMkLst>
        </pc:spChg>
      </pc:sldChg>
      <pc:sldChg chg="modSp">
        <pc:chgData name="Naresh Kumar Appadurai" userId="964b10c7-5270-4f75-aefb-832a8d5a6d51" providerId="ADAL" clId="{732453F4-9973-4C5B-9857-B77326E93D0E}" dt="2024-06-04T03:30:10.576" v="122" actId="20577"/>
        <pc:sldMkLst>
          <pc:docMk/>
          <pc:sldMk cId="0" sldId="595"/>
        </pc:sldMkLst>
        <pc:spChg chg="mod">
          <ac:chgData name="Naresh Kumar Appadurai" userId="964b10c7-5270-4f75-aefb-832a8d5a6d51" providerId="ADAL" clId="{732453F4-9973-4C5B-9857-B77326E93D0E}" dt="2024-06-04T03:30:10.576" v="122" actId="20577"/>
          <ac:spMkLst>
            <pc:docMk/>
            <pc:sldMk cId="0" sldId="595"/>
            <ac:spMk id="571395" creationId="{00000000-0000-0000-0000-000000000000}"/>
          </ac:spMkLst>
        </pc:spChg>
      </pc:sldChg>
      <pc:sldChg chg="modSp">
        <pc:chgData name="Naresh Kumar Appadurai" userId="964b10c7-5270-4f75-aefb-832a8d5a6d51" providerId="ADAL" clId="{732453F4-9973-4C5B-9857-B77326E93D0E}" dt="2024-06-04T03:27:22.613" v="86" actId="20577"/>
        <pc:sldMkLst>
          <pc:docMk/>
          <pc:sldMk cId="0" sldId="596"/>
        </pc:sldMkLst>
        <pc:spChg chg="mod">
          <ac:chgData name="Naresh Kumar Appadurai" userId="964b10c7-5270-4f75-aefb-832a8d5a6d51" providerId="ADAL" clId="{732453F4-9973-4C5B-9857-B77326E93D0E}" dt="2024-06-04T03:27:22.613" v="86" actId="20577"/>
          <ac:spMkLst>
            <pc:docMk/>
            <pc:sldMk cId="0" sldId="596"/>
            <ac:spMk id="573443" creationId="{00000000-0000-0000-0000-000000000000}"/>
          </ac:spMkLst>
        </pc:spChg>
      </pc:sldChg>
      <pc:sldChg chg="modSp">
        <pc:chgData name="Naresh Kumar Appadurai" userId="964b10c7-5270-4f75-aefb-832a8d5a6d51" providerId="ADAL" clId="{732453F4-9973-4C5B-9857-B77326E93D0E}" dt="2024-06-04T03:27:35.079" v="98" actId="20577"/>
        <pc:sldMkLst>
          <pc:docMk/>
          <pc:sldMk cId="0" sldId="597"/>
        </pc:sldMkLst>
        <pc:spChg chg="mod">
          <ac:chgData name="Naresh Kumar Appadurai" userId="964b10c7-5270-4f75-aefb-832a8d5a6d51" providerId="ADAL" clId="{732453F4-9973-4C5B-9857-B77326E93D0E}" dt="2024-06-04T03:27:35.079" v="98" actId="20577"/>
          <ac:spMkLst>
            <pc:docMk/>
            <pc:sldMk cId="0" sldId="597"/>
            <ac:spMk id="575491" creationId="{00000000-0000-0000-0000-000000000000}"/>
          </ac:spMkLst>
        </pc:spChg>
      </pc:sldChg>
    </pc:docChg>
  </pc:docChgLst>
  <pc:docChgLst>
    <pc:chgData name="Naresh Kumar Appadurai" userId="964b10c7-5270-4f75-aefb-832a8d5a6d51" providerId="ADAL" clId="{B5164945-F290-48A1-BC6F-59F62539C918}"/>
    <pc:docChg chg="modSld">
      <pc:chgData name="Naresh Kumar Appadurai" userId="964b10c7-5270-4f75-aefb-832a8d5a6d51" providerId="ADAL" clId="{B5164945-F290-48A1-BC6F-59F62539C918}" dt="2024-01-11T06:15:55.260" v="3" actId="1076"/>
      <pc:docMkLst>
        <pc:docMk/>
      </pc:docMkLst>
      <pc:sldChg chg="modSp mod">
        <pc:chgData name="Naresh Kumar Appadurai" userId="964b10c7-5270-4f75-aefb-832a8d5a6d51" providerId="ADAL" clId="{B5164945-F290-48A1-BC6F-59F62539C918}" dt="2024-01-11T06:15:55.260" v="3" actId="1076"/>
        <pc:sldMkLst>
          <pc:docMk/>
          <pc:sldMk cId="4134994898" sldId="636"/>
        </pc:sldMkLst>
        <pc:spChg chg="mod">
          <ac:chgData name="Naresh Kumar Appadurai" userId="964b10c7-5270-4f75-aefb-832a8d5a6d51" providerId="ADAL" clId="{B5164945-F290-48A1-BC6F-59F62539C918}" dt="2024-01-11T06:15:55.260" v="3" actId="1076"/>
          <ac:spMkLst>
            <pc:docMk/>
            <pc:sldMk cId="4134994898" sldId="636"/>
            <ac:spMk id="2" creationId="{00000000-0000-0000-0000-000000000000}"/>
          </ac:spMkLst>
        </pc:spChg>
        <pc:spChg chg="mod">
          <ac:chgData name="Naresh Kumar Appadurai" userId="964b10c7-5270-4f75-aefb-832a8d5a6d51" providerId="ADAL" clId="{B5164945-F290-48A1-BC6F-59F62539C918}" dt="2024-01-11T06:15:52.109" v="2" actId="1076"/>
          <ac:spMkLst>
            <pc:docMk/>
            <pc:sldMk cId="4134994898" sldId="636"/>
            <ac:spMk id="5" creationId="{00000000-0000-0000-0000-000000000000}"/>
          </ac:spMkLst>
        </pc:spChg>
        <pc:spChg chg="mod">
          <ac:chgData name="Naresh Kumar Appadurai" userId="964b10c7-5270-4f75-aefb-832a8d5a6d51" providerId="ADAL" clId="{B5164945-F290-48A1-BC6F-59F62539C918}" dt="2024-01-11T06:15:52.109" v="2" actId="1076"/>
          <ac:spMkLst>
            <pc:docMk/>
            <pc:sldMk cId="4134994898" sldId="636"/>
            <ac:spMk id="6" creationId="{00000000-0000-0000-0000-000000000000}"/>
          </ac:spMkLst>
        </pc:spChg>
        <pc:spChg chg="mod">
          <ac:chgData name="Naresh Kumar Appadurai" userId="964b10c7-5270-4f75-aefb-832a8d5a6d51" providerId="ADAL" clId="{B5164945-F290-48A1-BC6F-59F62539C918}" dt="2024-01-11T06:15:52.109" v="2" actId="1076"/>
          <ac:spMkLst>
            <pc:docMk/>
            <pc:sldMk cId="4134994898" sldId="636"/>
            <ac:spMk id="7" creationId="{00000000-0000-0000-0000-000000000000}"/>
          </ac:spMkLst>
        </pc:spChg>
      </pc:sldChg>
    </pc:docChg>
  </pc:docChgLst>
  <pc:docChgLst>
    <pc:chgData name="Naresh Kumar Appadurai" userId="964b10c7-5270-4f75-aefb-832a8d5a6d51" providerId="ADAL" clId="{A767E8DC-84D5-4787-8F4E-AE4E1D85F0E8}"/>
    <pc:docChg chg="modSld">
      <pc:chgData name="Naresh Kumar Appadurai" userId="964b10c7-5270-4f75-aefb-832a8d5a6d51" providerId="ADAL" clId="{A767E8DC-84D5-4787-8F4E-AE4E1D85F0E8}" dt="2023-06-21T02:51:09.378" v="4" actId="403"/>
      <pc:docMkLst>
        <pc:docMk/>
      </pc:docMkLst>
      <pc:sldChg chg="modSp">
        <pc:chgData name="Naresh Kumar Appadurai" userId="964b10c7-5270-4f75-aefb-832a8d5a6d51" providerId="ADAL" clId="{A767E8DC-84D5-4787-8F4E-AE4E1D85F0E8}" dt="2023-06-21T02:51:09.378" v="4" actId="403"/>
        <pc:sldMkLst>
          <pc:docMk/>
          <pc:sldMk cId="0" sldId="595"/>
        </pc:sldMkLst>
        <pc:spChg chg="mod">
          <ac:chgData name="Naresh Kumar Appadurai" userId="964b10c7-5270-4f75-aefb-832a8d5a6d51" providerId="ADAL" clId="{A767E8DC-84D5-4787-8F4E-AE4E1D85F0E8}" dt="2023-06-21T02:51:09.378" v="4" actId="403"/>
          <ac:spMkLst>
            <pc:docMk/>
            <pc:sldMk cId="0" sldId="595"/>
            <ac:spMk id="571395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63500" y="107745"/>
            <a:ext cx="4467946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 anchor="ctr">
            <a:spAutoFit/>
          </a:bodyPr>
          <a:lstStyle/>
          <a:p>
            <a:pPr eaLnBrk="0" hangingPunct="0"/>
            <a:r>
              <a:rPr lang="en-US" sz="1400" dirty="0">
                <a:latin typeface="Book Antiqua" charset="0"/>
              </a:rPr>
              <a:t>Asia Pacific University of Technology and Innovation</a:t>
            </a:r>
          </a:p>
        </p:txBody>
      </p:sp>
      <p:sp>
        <p:nvSpPr>
          <p:cNvPr id="16387" name="Rectangle 3"/>
          <p:cNvSpPr>
            <a:spLocks noChangeArrowheads="1"/>
          </p:cNvSpPr>
          <p:nvPr/>
        </p:nvSpPr>
        <p:spPr bwMode="auto">
          <a:xfrm>
            <a:off x="6388100" y="9366250"/>
            <a:ext cx="406400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 anchor="ctr">
            <a:spAutoFit/>
          </a:bodyPr>
          <a:lstStyle/>
          <a:p>
            <a:pPr algn="r" eaLnBrk="0" hangingPunct="0"/>
            <a:fld id="{42A1685D-C3EC-8145-9800-D2CA384921BF}" type="slidenum">
              <a:rPr lang="en-US" sz="1400">
                <a:latin typeface="Book Antiqua" charset="0"/>
              </a:rPr>
              <a:pPr algn="r" eaLnBrk="0" hangingPunct="0"/>
              <a:t>‹#›</a:t>
            </a:fld>
            <a:endParaRPr lang="en-US" sz="1400">
              <a:latin typeface="Book Antiqu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30822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648200"/>
            <a:ext cx="5029200" cy="411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notes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411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4588" y="854075"/>
            <a:ext cx="4568825" cy="34258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7412" name="Rectangle 4"/>
          <p:cNvSpPr>
            <a:spLocks noChangeArrowheads="1"/>
          </p:cNvSpPr>
          <p:nvPr/>
        </p:nvSpPr>
        <p:spPr bwMode="auto">
          <a:xfrm>
            <a:off x="63500" y="109538"/>
            <a:ext cx="5038725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 anchor="ctr">
            <a:spAutoFit/>
          </a:bodyPr>
          <a:lstStyle/>
          <a:p>
            <a:pPr eaLnBrk="0" hangingPunct="0"/>
            <a:r>
              <a:rPr lang="en-US" sz="1400">
                <a:latin typeface="Book Antiqua" charset="0"/>
              </a:rPr>
              <a:t>Asia Pacific University College of Technology and Innovation</a:t>
            </a:r>
          </a:p>
        </p:txBody>
      </p:sp>
      <p:sp>
        <p:nvSpPr>
          <p:cNvPr id="17413" name="Rectangle 5"/>
          <p:cNvSpPr>
            <a:spLocks noChangeArrowheads="1"/>
          </p:cNvSpPr>
          <p:nvPr/>
        </p:nvSpPr>
        <p:spPr bwMode="auto">
          <a:xfrm>
            <a:off x="6388100" y="9366250"/>
            <a:ext cx="406400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 anchor="ctr">
            <a:spAutoFit/>
          </a:bodyPr>
          <a:lstStyle/>
          <a:p>
            <a:pPr algn="r" eaLnBrk="0" hangingPunct="0"/>
            <a:fld id="{3895452F-DC18-464B-9439-2235E2240996}" type="slidenum">
              <a:rPr lang="en-US" sz="1400">
                <a:latin typeface="Book Antiqua" charset="0"/>
              </a:rPr>
              <a:pPr algn="r" eaLnBrk="0" hangingPunct="0"/>
              <a:t>‹#›</a:t>
            </a:fld>
            <a:endParaRPr lang="en-US" sz="1400">
              <a:latin typeface="Book Antiqu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41668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0" y="733425"/>
            <a:ext cx="4889500" cy="3667125"/>
          </a:xfrm>
          <a:ln/>
        </p:spPr>
      </p:sp>
      <p:sp>
        <p:nvSpPr>
          <p:cNvPr id="225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645025"/>
            <a:ext cx="5486400" cy="4398963"/>
          </a:xfrm>
          <a:noFill/>
          <a:ln w="9525"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Book Antiqua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0" y="733425"/>
            <a:ext cx="4889500" cy="3667125"/>
          </a:xfrm>
          <a:ln/>
        </p:spPr>
      </p:sp>
      <p:sp>
        <p:nvSpPr>
          <p:cNvPr id="245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645025"/>
            <a:ext cx="5486400" cy="4398963"/>
          </a:xfrm>
          <a:noFill/>
          <a:ln w="9525"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Book Antiqua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0" y="733425"/>
            <a:ext cx="4889500" cy="3667125"/>
          </a:xfrm>
          <a:ln/>
        </p:spPr>
      </p:sp>
      <p:sp>
        <p:nvSpPr>
          <p:cNvPr id="266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645025"/>
            <a:ext cx="5486400" cy="4398963"/>
          </a:xfrm>
          <a:noFill/>
          <a:ln w="9525"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Book Antiqua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0" y="733425"/>
            <a:ext cx="4889500" cy="3667125"/>
          </a:xfrm>
          <a:ln/>
        </p:spPr>
      </p:sp>
      <p:sp>
        <p:nvSpPr>
          <p:cNvPr id="317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645025"/>
            <a:ext cx="5486400" cy="4398963"/>
          </a:xfrm>
          <a:noFill/>
          <a:ln w="9525"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Book Antiqua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0" y="733425"/>
            <a:ext cx="4889500" cy="3667125"/>
          </a:xfrm>
          <a:ln/>
        </p:spPr>
      </p:sp>
      <p:sp>
        <p:nvSpPr>
          <p:cNvPr id="645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645025"/>
            <a:ext cx="5486400" cy="4398963"/>
          </a:xfrm>
          <a:noFill/>
          <a:ln w="9525"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Book Antiqua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0" y="733425"/>
            <a:ext cx="4889500" cy="3667125"/>
          </a:xfrm>
          <a:ln/>
        </p:spPr>
      </p:sp>
      <p:sp>
        <p:nvSpPr>
          <p:cNvPr id="675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645025"/>
            <a:ext cx="5486400" cy="4398963"/>
          </a:xfrm>
          <a:noFill/>
          <a:ln w="9525"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latin typeface="Book Antiqua" charset="0"/>
              </a:rPr>
              <a:t>Can proceed with the tutorial, get student to come back to the next class (during tutorial slot) to present their vending machine product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0" y="0"/>
            <a:ext cx="9144000" cy="3429000"/>
          </a:xfrm>
          <a:prstGeom prst="rect">
            <a:avLst/>
          </a:prstGeom>
          <a:solidFill>
            <a:srgbClr val="BAE4B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pic>
        <p:nvPicPr>
          <p:cNvPr id="5" name="Picture 9" descr="APU Logo_Final_Vertical_V1_HR1 copy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0338" y="2309813"/>
            <a:ext cx="2530476" cy="239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0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389188" y="1952625"/>
            <a:ext cx="6754812" cy="14700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374900" y="3886200"/>
            <a:ext cx="67691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65032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5F4CE5-706D-1349-AC32-4D1C5359F0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730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450E9C-5169-5141-8228-E19CC109778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265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3" y="1641475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9313" y="1641475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A9E878-6B65-9848-8C26-DDBFF6A9CA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447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C55306-532F-F244-80A7-32B5C7C38F4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985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95646C-0DF5-0A41-905F-C76DA02405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548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794576-59DB-9C4C-B0F9-071127ED1F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35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CFC91B-9AAB-0448-967E-8B43E10DC72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511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8F5E2C-5E5A-F24C-999E-1CB6805AA7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50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AF6EB7-ECB2-4042-927F-C7020D435FB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36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40513" y="274638"/>
            <a:ext cx="2057400" cy="5892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3" y="274638"/>
            <a:ext cx="6019800" cy="5892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F91C3A-5F3A-014E-9DD7-F5946FD862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0525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775" y="274638"/>
            <a:ext cx="704215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68313" y="1641475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9313" y="1641475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C88439-4C86-2244-8EFB-EFC7710C9B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6983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68313" y="274638"/>
            <a:ext cx="8229600" cy="589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16FC91-C976-404E-B1EA-7B9A2015DE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6657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775" y="274638"/>
            <a:ext cx="704215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3" y="1641475"/>
            <a:ext cx="8229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8313" y="3979863"/>
            <a:ext cx="8229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14B094-0EA0-934E-9DDF-468224908F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694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/>
        </p:nvSpPr>
        <p:spPr bwMode="auto">
          <a:xfrm>
            <a:off x="0" y="6621463"/>
            <a:ext cx="9144000" cy="236537"/>
          </a:xfrm>
          <a:prstGeom prst="rect">
            <a:avLst/>
          </a:prstGeom>
          <a:solidFill>
            <a:srgbClr val="BAE4B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7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1641475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485775" y="274638"/>
            <a:ext cx="70421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9" name="Rectangle 7"/>
          <p:cNvSpPr>
            <a:spLocks noChangeArrowheads="1"/>
          </p:cNvSpPr>
          <p:nvPr/>
        </p:nvSpPr>
        <p:spPr bwMode="auto">
          <a:xfrm>
            <a:off x="0" y="6508750"/>
            <a:ext cx="3389313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1000" b="1"/>
              <a:t>CT026-3-2</a:t>
            </a:r>
            <a:r>
              <a:rPr lang="en-US"/>
              <a:t> </a:t>
            </a:r>
            <a:r>
              <a:rPr lang="en-US" sz="1000" b="1"/>
              <a:t>Human Computer Interactions</a:t>
            </a:r>
          </a:p>
        </p:txBody>
      </p:sp>
      <p:sp>
        <p:nvSpPr>
          <p:cNvPr id="86024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b="1">
                <a:cs typeface="+mn-cs"/>
              </a:defRPr>
            </a:lvl1pPr>
          </a:lstStyle>
          <a:p>
            <a:pPr>
              <a:defRPr/>
            </a:pPr>
            <a:fld id="{CD84FD1E-AFFC-5447-B102-018590269B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8" name="Picture 7" descr="APU Logo_Final_Vertical_V1_HR1 copy.png"/>
          <p:cNvPicPr>
            <a:picLocks noChangeAspect="1"/>
          </p:cNvPicPr>
          <p:nvPr userDrawn="1"/>
        </p:nvPicPr>
        <p:blipFill>
          <a:blip r:embed="rId16" cstate="print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5956300" y="3469801"/>
            <a:ext cx="3360738" cy="3173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jnd.org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ChangeArrowheads="1"/>
          </p:cNvSpPr>
          <p:nvPr/>
        </p:nvSpPr>
        <p:spPr bwMode="auto">
          <a:xfrm>
            <a:off x="3851275" y="2420938"/>
            <a:ext cx="5257800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r"/>
            <a:r>
              <a:rPr lang="en-US" sz="2800"/>
              <a:t>Human Computer Interaction</a:t>
            </a:r>
            <a:br>
              <a:rPr lang="en-US" sz="2800"/>
            </a:br>
            <a:r>
              <a:rPr lang="en-US" sz="2800"/>
              <a:t>User Interaction</a:t>
            </a:r>
          </a:p>
        </p:txBody>
      </p:sp>
      <p:sp>
        <p:nvSpPr>
          <p:cNvPr id="18434" name="Rectangle 3"/>
          <p:cNvSpPr>
            <a:spLocks noChangeArrowheads="1"/>
          </p:cNvSpPr>
          <p:nvPr/>
        </p:nvSpPr>
        <p:spPr bwMode="auto">
          <a:xfrm>
            <a:off x="7740650" y="3573463"/>
            <a:ext cx="958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en-US" b="1"/>
              <a:t>Level 2</a:t>
            </a:r>
          </a:p>
        </p:txBody>
      </p:sp>
      <p:sp>
        <p:nvSpPr>
          <p:cNvPr id="18435" name="Text Box 4"/>
          <p:cNvSpPr txBox="1">
            <a:spLocks noChangeArrowheads="1"/>
          </p:cNvSpPr>
          <p:nvPr/>
        </p:nvSpPr>
        <p:spPr bwMode="auto">
          <a:xfrm>
            <a:off x="1716088" y="6375400"/>
            <a:ext cx="5780087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900" dirty="0"/>
              <a:t>Prepared by: RZW First Prepared on: December, 2007 Last Modified on: Feb 2018 </a:t>
            </a:r>
          </a:p>
          <a:p>
            <a:pPr algn="ctr"/>
            <a:r>
              <a:rPr lang="en-US" sz="900" dirty="0"/>
              <a:t>Quality checked by: MOH</a:t>
            </a:r>
          </a:p>
          <a:p>
            <a:pPr algn="ctr"/>
            <a:r>
              <a:rPr lang="en-US" sz="900" dirty="0"/>
              <a:t>Copyright 2004 Asia Pacific Institute of Information Technology</a:t>
            </a:r>
            <a:endParaRPr lang="en-US" sz="1800" dirty="0"/>
          </a:p>
        </p:txBody>
      </p:sp>
      <p:sp>
        <p:nvSpPr>
          <p:cNvPr id="18436" name="Text Box 5"/>
          <p:cNvSpPr txBox="1">
            <a:spLocks noChangeArrowheads="1"/>
          </p:cNvSpPr>
          <p:nvPr/>
        </p:nvSpPr>
        <p:spPr bwMode="auto">
          <a:xfrm>
            <a:off x="0" y="620713"/>
            <a:ext cx="5183188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800" dirty="0"/>
              <a:t>CT026-3-2  </a:t>
            </a:r>
          </a:p>
          <a:p>
            <a:pPr eaLnBrk="1" hangingPunct="1"/>
            <a:r>
              <a:rPr lang="en-US" sz="2800" dirty="0"/>
              <a:t>Human Computer Interaction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5908AF8B-DF0B-4E42-A6E1-D9DC85B24ACA}" type="slidenum">
              <a:rPr lang="en-US" sz="1000"/>
              <a:pPr eaLnBrk="1" hangingPunct="1"/>
              <a:t>2</a:t>
            </a:fld>
            <a:endParaRPr lang="en-US" sz="1000"/>
          </a:p>
        </p:txBody>
      </p:sp>
      <p:sp>
        <p:nvSpPr>
          <p:cNvPr id="21506" name="Text Box 2"/>
          <p:cNvSpPr txBox="1">
            <a:spLocks noChangeArrowheads="1"/>
          </p:cNvSpPr>
          <p:nvPr/>
        </p:nvSpPr>
        <p:spPr bwMode="auto">
          <a:xfrm>
            <a:off x="1719263" y="411163"/>
            <a:ext cx="620236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3200" b="1">
                <a:solidFill>
                  <a:srgbClr val="B40000"/>
                </a:solidFill>
              </a:rPr>
              <a:t>Topic &amp; Structure of the lesson</a:t>
            </a:r>
            <a:endParaRPr lang="en-US" sz="3200">
              <a:solidFill>
                <a:srgbClr val="B40000"/>
              </a:solidFill>
            </a:endParaRPr>
          </a:p>
        </p:txBody>
      </p:sp>
      <p:sp>
        <p:nvSpPr>
          <p:cNvPr id="571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370547"/>
            <a:ext cx="8229600" cy="5216525"/>
          </a:xfrm>
        </p:spPr>
        <p:txBody>
          <a:bodyPr/>
          <a:lstStyle/>
          <a:p>
            <a:pPr eaLnBrk="1" hangingPunct="1"/>
            <a:r>
              <a:rPr lang="en-US" b="1" dirty="0">
                <a:latin typeface="Arial" charset="0"/>
              </a:rPr>
              <a:t>Norman</a:t>
            </a:r>
            <a:r>
              <a:rPr lang="ja-JP" altLang="en-US" b="1" dirty="0">
                <a:latin typeface="Arial" charset="0"/>
              </a:rPr>
              <a:t>’</a:t>
            </a:r>
            <a:r>
              <a:rPr lang="en-US" altLang="ja-JP" b="1" dirty="0">
                <a:latin typeface="Arial" charset="0"/>
              </a:rPr>
              <a:t>s Gulfs of Execution and Evaluation</a:t>
            </a:r>
          </a:p>
          <a:p>
            <a:pPr eaLnBrk="1" hangingPunct="1"/>
            <a:r>
              <a:rPr lang="en-US" altLang="ja-JP" b="1" dirty="0">
                <a:latin typeface="Arial" charset="0"/>
              </a:rPr>
              <a:t>Interaction Type</a:t>
            </a:r>
          </a:p>
          <a:p>
            <a:pPr lvl="1" eaLnBrk="1" hangingPunct="1"/>
            <a:r>
              <a:rPr lang="en-US" altLang="ja-JP" sz="2400" b="1" dirty="0">
                <a:latin typeface="Arial" charset="0"/>
              </a:rPr>
              <a:t>Instructing – command –based</a:t>
            </a:r>
          </a:p>
          <a:p>
            <a:pPr lvl="1" eaLnBrk="1" hangingPunct="1"/>
            <a:r>
              <a:rPr lang="en-US" altLang="ja-JP" sz="2400" b="1" dirty="0">
                <a:latin typeface="Arial" charset="0"/>
              </a:rPr>
              <a:t>Conversing – dialogue –based</a:t>
            </a:r>
          </a:p>
          <a:p>
            <a:pPr lvl="1" eaLnBrk="1" hangingPunct="1"/>
            <a:r>
              <a:rPr lang="en-US" altLang="ja-JP" sz="2400" b="1" dirty="0">
                <a:latin typeface="Arial" charset="0"/>
              </a:rPr>
              <a:t>Manipulating – static interaction with the environment</a:t>
            </a:r>
          </a:p>
          <a:p>
            <a:pPr lvl="1" eaLnBrk="1" hangingPunct="1"/>
            <a:r>
              <a:rPr lang="en-US" altLang="ja-JP" sz="2400" b="1" dirty="0">
                <a:latin typeface="Arial" charset="0"/>
              </a:rPr>
              <a:t>Exploring – dynamic interaction with the environment</a:t>
            </a:r>
            <a:endParaRPr lang="en-US" altLang="ja-JP" sz="3200" b="1" dirty="0">
              <a:latin typeface="Arial" charset="0"/>
            </a:endParaRPr>
          </a:p>
          <a:p>
            <a:pPr eaLnBrk="1" hangingPunct="1"/>
            <a:r>
              <a:rPr lang="en-US" b="1" dirty="0">
                <a:latin typeface="Arial" charset="0"/>
              </a:rPr>
              <a:t>Interface Style – GUI, Menu, Forms </a:t>
            </a:r>
            <a:r>
              <a:rPr lang="en-US" b="1" dirty="0" err="1">
                <a:latin typeface="Arial" charset="0"/>
              </a:rPr>
              <a:t>etc</a:t>
            </a:r>
            <a:endParaRPr lang="en-US" b="1" dirty="0">
              <a:latin typeface="Arial" charset="0"/>
            </a:endParaRPr>
          </a:p>
          <a:p>
            <a:pPr lvl="1" eaLnBrk="1" hangingPunct="1"/>
            <a:endParaRPr lang="en-US" sz="1400" b="1" dirty="0">
              <a:latin typeface="Arial" charset="0"/>
            </a:endParaRPr>
          </a:p>
          <a:p>
            <a:pPr eaLnBrk="1" hangingPunct="1"/>
            <a:endParaRPr lang="en-US" sz="1600" b="1" dirty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71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71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71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71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571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571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3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5713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1395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3836CA18-2A1F-344F-860F-B7C64B220747}" type="slidenum">
              <a:rPr lang="en-US" sz="1000"/>
              <a:pPr eaLnBrk="1" hangingPunct="1"/>
              <a:t>3</a:t>
            </a:fld>
            <a:endParaRPr lang="en-US" sz="1000"/>
          </a:p>
        </p:txBody>
      </p:sp>
      <p:sp>
        <p:nvSpPr>
          <p:cNvPr id="23554" name="Text Box 2"/>
          <p:cNvSpPr txBox="1">
            <a:spLocks noChangeArrowheads="1"/>
          </p:cNvSpPr>
          <p:nvPr/>
        </p:nvSpPr>
        <p:spPr bwMode="auto">
          <a:xfrm>
            <a:off x="1719263" y="411163"/>
            <a:ext cx="39941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3200" b="1">
                <a:solidFill>
                  <a:srgbClr val="B40000"/>
                </a:solidFill>
              </a:rPr>
              <a:t>Learning Outcomes</a:t>
            </a:r>
            <a:endParaRPr lang="en-US" sz="3200">
              <a:solidFill>
                <a:srgbClr val="B40000"/>
              </a:solidFill>
            </a:endParaRPr>
          </a:p>
        </p:txBody>
      </p:sp>
      <p:sp>
        <p:nvSpPr>
          <p:cNvPr id="573443" name="Rectangle 3"/>
          <p:cNvSpPr>
            <a:spLocks noChangeArrowheads="1"/>
          </p:cNvSpPr>
          <p:nvPr/>
        </p:nvSpPr>
        <p:spPr bwMode="auto">
          <a:xfrm>
            <a:off x="685800" y="1771650"/>
            <a:ext cx="7772400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b="1" dirty="0">
                <a:solidFill>
                  <a:srgbClr val="B40000"/>
                </a:solidFill>
              </a:rPr>
              <a:t>At the end of this lecture, you should be able to: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800" dirty="0"/>
              <a:t>Select the appropriate interaction technique (type and style) for interface design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73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4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6825BF2A-D6BE-5345-A509-1B364E18091A}" type="slidenum">
              <a:rPr lang="en-US" sz="1000"/>
              <a:pPr eaLnBrk="1" hangingPunct="1"/>
              <a:t>4</a:t>
            </a:fld>
            <a:endParaRPr lang="en-US" sz="1000"/>
          </a:p>
        </p:txBody>
      </p:sp>
      <p:sp>
        <p:nvSpPr>
          <p:cNvPr id="25602" name="Text Box 2"/>
          <p:cNvSpPr txBox="1">
            <a:spLocks noChangeArrowheads="1"/>
          </p:cNvSpPr>
          <p:nvPr/>
        </p:nvSpPr>
        <p:spPr bwMode="auto">
          <a:xfrm>
            <a:off x="1719263" y="411163"/>
            <a:ext cx="699293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3200" b="1">
                <a:solidFill>
                  <a:srgbClr val="B40000"/>
                </a:solidFill>
              </a:rPr>
              <a:t>Key Terms you must be able to use</a:t>
            </a:r>
            <a:endParaRPr lang="en-US" sz="3200">
              <a:solidFill>
                <a:srgbClr val="B40000"/>
              </a:solidFill>
            </a:endParaRPr>
          </a:p>
        </p:txBody>
      </p:sp>
      <p:sp>
        <p:nvSpPr>
          <p:cNvPr id="575491" name="Text Box 3"/>
          <p:cNvSpPr txBox="1">
            <a:spLocks noChangeArrowheads="1"/>
          </p:cNvSpPr>
          <p:nvPr/>
        </p:nvSpPr>
        <p:spPr bwMode="auto">
          <a:xfrm>
            <a:off x="365125" y="1624013"/>
            <a:ext cx="8102600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920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b="1" dirty="0"/>
              <a:t>If you have mastered this topic, </a:t>
            </a:r>
            <a:r>
              <a:rPr lang="en-US" b="1" dirty="0">
                <a:solidFill>
                  <a:srgbClr val="990000"/>
                </a:solidFill>
              </a:rPr>
              <a:t>you should be able to use the following terms correctly in your assignments and exams</a:t>
            </a:r>
            <a:r>
              <a:rPr lang="en-US" b="1" dirty="0"/>
              <a:t>:</a:t>
            </a:r>
          </a:p>
          <a:p>
            <a:pPr eaLnBrk="1" hangingPunct="1"/>
            <a:endParaRPr lang="en-US" b="1" dirty="0"/>
          </a:p>
          <a:p>
            <a:pPr eaLnBrk="1" hangingPunct="1">
              <a:buFontTx/>
              <a:buChar char="•"/>
            </a:pPr>
            <a:r>
              <a:rPr lang="en-US" b="1" dirty="0"/>
              <a:t>Norman</a:t>
            </a:r>
            <a:r>
              <a:rPr lang="ja-JP" altLang="en-US" b="1" dirty="0"/>
              <a:t>’</a:t>
            </a:r>
            <a:r>
              <a:rPr lang="en-US" altLang="ja-JP" b="1" dirty="0"/>
              <a:t>s gulf of execution and evaluation</a:t>
            </a:r>
          </a:p>
          <a:p>
            <a:pPr eaLnBrk="1" hangingPunct="1">
              <a:buFontTx/>
              <a:buChar char="•"/>
            </a:pPr>
            <a:r>
              <a:rPr lang="en-US" b="1" dirty="0"/>
              <a:t>Interaction type and interaction style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75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75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F307F7C6-BB4F-924C-AF73-D955F729759C}" type="slidenum">
              <a:rPr lang="en-US" sz="1000"/>
              <a:pPr eaLnBrk="1" hangingPunct="1"/>
              <a:t>5</a:t>
            </a:fld>
            <a:endParaRPr lang="en-US" sz="1000"/>
          </a:p>
        </p:txBody>
      </p:sp>
      <p:sp>
        <p:nvSpPr>
          <p:cNvPr id="27650" name="Text Box 2"/>
          <p:cNvSpPr txBox="1">
            <a:spLocks noChangeArrowheads="1"/>
          </p:cNvSpPr>
          <p:nvPr/>
        </p:nvSpPr>
        <p:spPr bwMode="auto">
          <a:xfrm>
            <a:off x="436563" y="260350"/>
            <a:ext cx="3968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3600" b="1">
                <a:solidFill>
                  <a:srgbClr val="003366"/>
                </a:solidFill>
              </a:rPr>
              <a:t>Interaction Model</a:t>
            </a:r>
          </a:p>
        </p:txBody>
      </p:sp>
      <p:sp>
        <p:nvSpPr>
          <p:cNvPr id="27651" name="Rectangle 3"/>
          <p:cNvSpPr>
            <a:spLocks noChangeArrowheads="1"/>
          </p:cNvSpPr>
          <p:nvPr/>
        </p:nvSpPr>
        <p:spPr bwMode="auto">
          <a:xfrm>
            <a:off x="387350" y="1069975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algn="just">
              <a:spcBef>
                <a:spcPct val="20000"/>
              </a:spcBef>
              <a:buFontTx/>
              <a:buChar char="•"/>
            </a:pPr>
            <a:r>
              <a:rPr lang="en-US" sz="2800">
                <a:latin typeface="Tahoma" charset="0"/>
              </a:rPr>
              <a:t>The most influential model of interaction is Donald Norman</a:t>
            </a:r>
            <a:r>
              <a:rPr lang="ja-JP" altLang="en-US" sz="2800">
                <a:latin typeface="Tahoma" charset="0"/>
              </a:rPr>
              <a:t>’</a:t>
            </a:r>
            <a:r>
              <a:rPr lang="en-US" altLang="ja-JP" sz="2800">
                <a:latin typeface="Tahoma" charset="0"/>
              </a:rPr>
              <a:t>s (</a:t>
            </a:r>
            <a:r>
              <a:rPr lang="en-US" altLang="ja-JP" sz="2800">
                <a:latin typeface="Tahoma" charset="0"/>
                <a:hlinkClick r:id="rId2"/>
              </a:rPr>
              <a:t>http://www.jnd.org/</a:t>
            </a:r>
            <a:r>
              <a:rPr lang="en-US" altLang="ja-JP" sz="2800">
                <a:latin typeface="Tahoma" charset="0"/>
              </a:rPr>
              <a:t>) :</a:t>
            </a:r>
          </a:p>
          <a:p>
            <a:pPr marL="342900" indent="-342900" algn="ctr">
              <a:spcBef>
                <a:spcPct val="20000"/>
              </a:spcBef>
            </a:pPr>
            <a:r>
              <a:rPr lang="en-US" sz="2800">
                <a:latin typeface="Tahoma" charset="0"/>
              </a:rPr>
              <a:t>	</a:t>
            </a:r>
          </a:p>
          <a:p>
            <a:pPr marL="342900" indent="-342900" algn="ctr">
              <a:spcBef>
                <a:spcPct val="20000"/>
              </a:spcBef>
            </a:pPr>
            <a:r>
              <a:rPr lang="en-US" sz="2800" b="1">
                <a:solidFill>
                  <a:srgbClr val="CA143B"/>
                </a:solidFill>
                <a:latin typeface="Tahoma" charset="0"/>
              </a:rPr>
              <a:t>Execution-Evaluation cycle</a:t>
            </a:r>
          </a:p>
          <a:p>
            <a:pPr marL="342900" indent="-342900" algn="just">
              <a:spcBef>
                <a:spcPct val="20000"/>
              </a:spcBef>
              <a:buFontTx/>
              <a:buChar char="•"/>
            </a:pPr>
            <a:r>
              <a:rPr lang="en-US" sz="2800">
                <a:latin typeface="Tahoma" charset="0"/>
              </a:rPr>
              <a:t>Norman divides interaction into :</a:t>
            </a:r>
          </a:p>
          <a:p>
            <a:pPr marL="742950" lvl="1" indent="-285750" algn="just">
              <a:spcBef>
                <a:spcPct val="20000"/>
              </a:spcBef>
              <a:buFontTx/>
              <a:buChar char="–"/>
            </a:pPr>
            <a:r>
              <a:rPr lang="en-US" sz="2800" b="1">
                <a:latin typeface="Tahoma" charset="0"/>
              </a:rPr>
              <a:t>Execution </a:t>
            </a:r>
          </a:p>
          <a:p>
            <a:pPr marL="1143000" lvl="2" indent="-228600" algn="just">
              <a:spcBef>
                <a:spcPct val="20000"/>
              </a:spcBef>
              <a:buFontTx/>
              <a:buChar char="•"/>
            </a:pPr>
            <a:r>
              <a:rPr lang="en-US" sz="2800">
                <a:latin typeface="Tahoma" charset="0"/>
              </a:rPr>
              <a:t>User activities aimed at making the system do something</a:t>
            </a:r>
          </a:p>
          <a:p>
            <a:pPr marL="742950" lvl="1" indent="-285750" algn="just">
              <a:spcBef>
                <a:spcPct val="20000"/>
              </a:spcBef>
              <a:buFontTx/>
              <a:buChar char="–"/>
            </a:pPr>
            <a:r>
              <a:rPr lang="en-US" sz="2800" b="1">
                <a:latin typeface="Tahoma" charset="0"/>
              </a:rPr>
              <a:t>Evaluation </a:t>
            </a:r>
          </a:p>
          <a:p>
            <a:pPr marL="1143000" lvl="2" indent="-228600" algn="just">
              <a:spcBef>
                <a:spcPct val="20000"/>
              </a:spcBef>
              <a:buFontTx/>
              <a:buChar char="•"/>
            </a:pPr>
            <a:r>
              <a:rPr lang="en-US" sz="2800">
                <a:latin typeface="Tahoma" charset="0"/>
              </a:rPr>
              <a:t>Evaluating whether the system did actually do what they wanted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ACF156B0-A43A-FE4B-92CB-D95502654CF2}" type="slidenum">
              <a:rPr lang="en-US" sz="1000"/>
              <a:pPr eaLnBrk="1" hangingPunct="1"/>
              <a:t>6</a:t>
            </a:fld>
            <a:endParaRPr lang="en-US" sz="1000"/>
          </a:p>
        </p:txBody>
      </p:sp>
      <p:sp>
        <p:nvSpPr>
          <p:cNvPr id="28674" name="Text Box 2"/>
          <p:cNvSpPr txBox="1">
            <a:spLocks noChangeArrowheads="1"/>
          </p:cNvSpPr>
          <p:nvPr/>
        </p:nvSpPr>
        <p:spPr bwMode="auto">
          <a:xfrm>
            <a:off x="384175" y="279400"/>
            <a:ext cx="5873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3600" b="1">
                <a:solidFill>
                  <a:srgbClr val="003366"/>
                </a:solidFill>
              </a:rPr>
              <a:t>Understanding Interaction</a:t>
            </a:r>
          </a:p>
        </p:txBody>
      </p:sp>
      <p:sp>
        <p:nvSpPr>
          <p:cNvPr id="28675" name="Rectangle 3"/>
          <p:cNvSpPr>
            <a:spLocks noChangeArrowheads="1"/>
          </p:cNvSpPr>
          <p:nvPr/>
        </p:nvSpPr>
        <p:spPr bwMode="auto">
          <a:xfrm>
            <a:off x="539750" y="1484313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algn="just">
              <a:spcAft>
                <a:spcPct val="50000"/>
              </a:spcAft>
            </a:pPr>
            <a:r>
              <a:rPr lang="en-US" sz="2800" b="1">
                <a:latin typeface="Tahoma" charset="0"/>
              </a:rPr>
              <a:t>Execution</a:t>
            </a:r>
            <a:r>
              <a:rPr lang="en-US" sz="2400">
                <a:latin typeface="Tahoma" charset="0"/>
              </a:rPr>
              <a:t> </a:t>
            </a:r>
          </a:p>
          <a:p>
            <a:pPr marL="742950" lvl="1" indent="-285750" algn="just">
              <a:spcAft>
                <a:spcPct val="50000"/>
              </a:spcAft>
              <a:buFontTx/>
              <a:buChar char="–"/>
            </a:pPr>
            <a:r>
              <a:rPr lang="en-US" sz="2800">
                <a:latin typeface="Tahoma" charset="0"/>
              </a:rPr>
              <a:t>If User cannot make system do what they want</a:t>
            </a:r>
          </a:p>
          <a:p>
            <a:pPr marL="1143000" lvl="2" indent="-228600" algn="just">
              <a:spcAft>
                <a:spcPct val="50000"/>
              </a:spcAft>
              <a:buFontTx/>
              <a:buChar char="•"/>
            </a:pPr>
            <a:r>
              <a:rPr lang="en-US" sz="2800">
                <a:latin typeface="Tahoma" charset="0"/>
              </a:rPr>
              <a:t>e.g. cannot understand how to do it, unclear icons, unclear indication etc.</a:t>
            </a:r>
          </a:p>
          <a:p>
            <a:pPr marL="742950" lvl="1" indent="-285750" algn="just">
              <a:spcAft>
                <a:spcPct val="50000"/>
              </a:spcAft>
              <a:buFontTx/>
              <a:buChar char="–"/>
            </a:pPr>
            <a:r>
              <a:rPr lang="en-US" sz="2800">
                <a:latin typeface="Tahoma" charset="0"/>
              </a:rPr>
              <a:t>Will result in the Gulf of Execution</a:t>
            </a:r>
          </a:p>
          <a:p>
            <a:pPr marL="1143000" lvl="2" indent="-228600" algn="just">
              <a:spcAft>
                <a:spcPct val="50000"/>
              </a:spcAft>
              <a:buFontTx/>
              <a:buChar char="•"/>
            </a:pPr>
            <a:r>
              <a:rPr lang="en-US" sz="2800">
                <a:latin typeface="Tahoma" charset="0"/>
              </a:rPr>
              <a:t>i.e. difference between the user</a:t>
            </a:r>
            <a:r>
              <a:rPr lang="ja-JP" altLang="en-US" sz="2800">
                <a:latin typeface="Tahoma" charset="0"/>
              </a:rPr>
              <a:t>’</a:t>
            </a:r>
            <a:r>
              <a:rPr lang="en-US" altLang="ja-JP" sz="2800">
                <a:latin typeface="Tahoma" charset="0"/>
              </a:rPr>
              <a:t>s formulation of the action and the actions allowed by the system</a:t>
            </a:r>
            <a:endParaRPr lang="en-US" sz="2800">
              <a:latin typeface="Tahoma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F1D873FE-200B-9444-8975-4CCC549285AB}" type="slidenum">
              <a:rPr lang="en-US" sz="1000"/>
              <a:pPr eaLnBrk="1" hangingPunct="1"/>
              <a:t>7</a:t>
            </a:fld>
            <a:endParaRPr lang="en-US" sz="1000"/>
          </a:p>
        </p:txBody>
      </p:sp>
      <p:sp>
        <p:nvSpPr>
          <p:cNvPr id="29698" name="Text Box 2"/>
          <p:cNvSpPr txBox="1">
            <a:spLocks noChangeArrowheads="1"/>
          </p:cNvSpPr>
          <p:nvPr/>
        </p:nvSpPr>
        <p:spPr bwMode="auto">
          <a:xfrm>
            <a:off x="271463" y="247650"/>
            <a:ext cx="5873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3600" b="1">
                <a:solidFill>
                  <a:srgbClr val="003366"/>
                </a:solidFill>
              </a:rPr>
              <a:t>Understanding interaction</a:t>
            </a:r>
          </a:p>
        </p:txBody>
      </p:sp>
      <p:sp>
        <p:nvSpPr>
          <p:cNvPr id="29699" name="Rectangle 3"/>
          <p:cNvSpPr>
            <a:spLocks noChangeArrowheads="1"/>
          </p:cNvSpPr>
          <p:nvPr/>
        </p:nvSpPr>
        <p:spPr bwMode="auto">
          <a:xfrm>
            <a:off x="250825" y="1412875"/>
            <a:ext cx="8686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algn="just">
              <a:spcAft>
                <a:spcPct val="50000"/>
              </a:spcAft>
            </a:pPr>
            <a:r>
              <a:rPr lang="en-US" sz="2800" b="1">
                <a:latin typeface="Tahoma" charset="0"/>
              </a:rPr>
              <a:t>Evaluation </a:t>
            </a:r>
          </a:p>
          <a:p>
            <a:pPr marL="742950" lvl="1" indent="-285750" algn="just">
              <a:spcAft>
                <a:spcPct val="50000"/>
              </a:spcAft>
              <a:buFontTx/>
              <a:buChar char="–"/>
            </a:pPr>
            <a:r>
              <a:rPr lang="en-US" sz="2800">
                <a:latin typeface="Tahoma" charset="0"/>
              </a:rPr>
              <a:t>If user cannot see what happened to system</a:t>
            </a:r>
          </a:p>
          <a:p>
            <a:pPr marL="1143000" lvl="2" indent="-228600" algn="just">
              <a:spcAft>
                <a:spcPct val="50000"/>
              </a:spcAft>
              <a:buFontTx/>
              <a:buChar char="•"/>
            </a:pPr>
            <a:r>
              <a:rPr lang="en-US" sz="2800">
                <a:latin typeface="Tahoma" charset="0"/>
              </a:rPr>
              <a:t>e.g. if system has done what they want but no feedback is given to the users etc.</a:t>
            </a:r>
          </a:p>
          <a:p>
            <a:pPr marL="742950" lvl="1" indent="-285750" algn="just">
              <a:spcAft>
                <a:spcPct val="50000"/>
              </a:spcAft>
              <a:buFontTx/>
              <a:buChar char="–"/>
            </a:pPr>
            <a:r>
              <a:rPr lang="en-US" sz="2800">
                <a:latin typeface="Tahoma" charset="0"/>
              </a:rPr>
              <a:t>Will result in the Gulf of Evaluation</a:t>
            </a:r>
          </a:p>
          <a:p>
            <a:pPr marL="1143000" lvl="2" indent="-228600" algn="just">
              <a:spcAft>
                <a:spcPct val="50000"/>
              </a:spcAft>
              <a:buFontTx/>
              <a:buChar char="•"/>
            </a:pPr>
            <a:r>
              <a:rPr lang="en-US" sz="2800">
                <a:latin typeface="Tahoma" charset="0"/>
              </a:rPr>
              <a:t>i.e. difference between the representation of the system state/result and the expectations of the user</a:t>
            </a:r>
          </a:p>
          <a:p>
            <a:pPr marL="342900" indent="-342900" algn="ctr">
              <a:spcAft>
                <a:spcPct val="50000"/>
              </a:spcAft>
            </a:pPr>
            <a:r>
              <a:rPr lang="en-US" sz="3200" b="1">
                <a:solidFill>
                  <a:srgbClr val="990000"/>
                </a:solidFill>
                <a:latin typeface="Tahoma" charset="0"/>
              </a:rPr>
              <a:t>Good Design aims to reduce these gulfs</a:t>
            </a:r>
          </a:p>
          <a:p>
            <a:pPr marL="1143000" lvl="2" indent="-228600" algn="just">
              <a:spcAft>
                <a:spcPct val="50000"/>
              </a:spcAft>
              <a:buFontTx/>
              <a:buChar char="•"/>
            </a:pPr>
            <a:endParaRPr lang="en-US" sz="2800">
              <a:latin typeface="Tahoma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8FACB564-70E5-6449-A015-52648524BA2E}" type="slidenum">
              <a:rPr lang="en-US" sz="1000"/>
              <a:pPr eaLnBrk="1" hangingPunct="1"/>
              <a:t>8</a:t>
            </a:fld>
            <a:endParaRPr lang="en-US" sz="1000"/>
          </a:p>
        </p:txBody>
      </p:sp>
      <p:sp>
        <p:nvSpPr>
          <p:cNvPr id="30722" name="Text Box 2"/>
          <p:cNvSpPr txBox="1">
            <a:spLocks noChangeArrowheads="1"/>
          </p:cNvSpPr>
          <p:nvPr/>
        </p:nvSpPr>
        <p:spPr bwMode="auto">
          <a:xfrm>
            <a:off x="1719263" y="411163"/>
            <a:ext cx="43751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3200" b="1">
                <a:solidFill>
                  <a:srgbClr val="B40000"/>
                </a:solidFill>
              </a:rPr>
              <a:t>Models of interaction </a:t>
            </a:r>
            <a:endParaRPr lang="en-US" sz="3200">
              <a:solidFill>
                <a:srgbClr val="B40000"/>
              </a:solidFill>
            </a:endParaRPr>
          </a:p>
        </p:txBody>
      </p:sp>
      <p:sp>
        <p:nvSpPr>
          <p:cNvPr id="30723" name="Rectangle 3"/>
          <p:cNvSpPr>
            <a:spLocks noChangeArrowheads="1"/>
          </p:cNvSpPr>
          <p:nvPr/>
        </p:nvSpPr>
        <p:spPr bwMode="auto">
          <a:xfrm>
            <a:off x="685800" y="1843088"/>
            <a:ext cx="7772400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800" b="1"/>
              <a:t>Norman</a:t>
            </a:r>
            <a:r>
              <a:rPr lang="ja-JP" altLang="en-US" sz="2800" b="1"/>
              <a:t>’</a:t>
            </a:r>
            <a:r>
              <a:rPr lang="en-US" altLang="ja-JP" sz="2800" b="1"/>
              <a:t>s Gulfs of Execution and Evaluation</a:t>
            </a:r>
            <a:r>
              <a:rPr lang="en-US" altLang="ja-JP" sz="3600"/>
              <a:t> 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400" b="1"/>
              <a:t>The user formulates </a:t>
            </a:r>
            <a:r>
              <a:rPr lang="en-US" sz="2400" b="1">
                <a:solidFill>
                  <a:srgbClr val="B40000"/>
                </a:solidFill>
              </a:rPr>
              <a:t>a plan</a:t>
            </a:r>
            <a:r>
              <a:rPr lang="en-US" sz="2400" b="1"/>
              <a:t> of action, which is then executed at the </a:t>
            </a:r>
            <a:r>
              <a:rPr lang="en-US" sz="2400" b="1">
                <a:solidFill>
                  <a:srgbClr val="B40000"/>
                </a:solidFill>
              </a:rPr>
              <a:t>computer interface</a:t>
            </a:r>
            <a:r>
              <a:rPr lang="en-US" sz="2400" b="1"/>
              <a:t>. When the plan, or part of the plan, has been executed, the user </a:t>
            </a:r>
            <a:r>
              <a:rPr lang="en-US" sz="2400" b="1">
                <a:solidFill>
                  <a:srgbClr val="B40000"/>
                </a:solidFill>
              </a:rPr>
              <a:t>observes</a:t>
            </a:r>
            <a:r>
              <a:rPr lang="en-US" sz="2400" b="1"/>
              <a:t> the computer interface to </a:t>
            </a:r>
            <a:r>
              <a:rPr lang="en-US" sz="2400" b="1">
                <a:solidFill>
                  <a:srgbClr val="B40000"/>
                </a:solidFill>
              </a:rPr>
              <a:t>evaluate the result</a:t>
            </a:r>
            <a:r>
              <a:rPr lang="en-US" sz="2400" b="1"/>
              <a:t> of the executed plan, and to </a:t>
            </a:r>
            <a:r>
              <a:rPr lang="en-US" sz="2400" b="1">
                <a:solidFill>
                  <a:srgbClr val="B40000"/>
                </a:solidFill>
              </a:rPr>
              <a:t>determine further actions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94D7E827-D91C-4240-85E0-615BB2F7AEA4}" type="slidenum">
              <a:rPr lang="en-US" sz="1000"/>
              <a:pPr eaLnBrk="1" hangingPunct="1"/>
              <a:t>9</a:t>
            </a:fld>
            <a:endParaRPr lang="en-US" sz="1000"/>
          </a:p>
        </p:txBody>
      </p:sp>
      <p:sp>
        <p:nvSpPr>
          <p:cNvPr id="32770" name="Rectangle 2"/>
          <p:cNvSpPr>
            <a:spLocks noChangeArrowheads="1"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609600" indent="-609600">
              <a:spcBef>
                <a:spcPct val="20000"/>
              </a:spcBef>
              <a:buFont typeface="Monotype Sorts" charset="0"/>
              <a:buNone/>
            </a:pPr>
            <a:r>
              <a:rPr lang="en-US" sz="3200" b="1">
                <a:solidFill>
                  <a:srgbClr val="B40000"/>
                </a:solidFill>
              </a:rPr>
              <a:t>The seven stages of action</a:t>
            </a:r>
          </a:p>
          <a:p>
            <a:pPr marL="609600" indent="-609600">
              <a:spcBef>
                <a:spcPct val="20000"/>
              </a:spcBef>
              <a:buFont typeface="Monotype Sorts" charset="0"/>
              <a:buAutoNum type="arabicPeriod"/>
            </a:pPr>
            <a:r>
              <a:rPr lang="en-US" sz="2400" b="1">
                <a:latin typeface="Century Gothic" charset="0"/>
              </a:rPr>
              <a:t>Forming the goal</a:t>
            </a:r>
          </a:p>
          <a:p>
            <a:pPr marL="990600" lvl="1" indent="-533400">
              <a:spcBef>
                <a:spcPct val="20000"/>
              </a:spcBef>
              <a:buFontTx/>
              <a:buChar char="–"/>
            </a:pPr>
            <a:r>
              <a:rPr lang="en-US" sz="2400" b="1">
                <a:latin typeface="Century Gothic" charset="0"/>
              </a:rPr>
              <a:t>Something to be </a:t>
            </a:r>
            <a:r>
              <a:rPr lang="en-US" sz="2400" b="1">
                <a:solidFill>
                  <a:srgbClr val="B40000"/>
                </a:solidFill>
                <a:latin typeface="Century Gothic" charset="0"/>
              </a:rPr>
              <a:t>achieved</a:t>
            </a:r>
          </a:p>
          <a:p>
            <a:pPr marL="990600" lvl="1" indent="-533400">
              <a:spcBef>
                <a:spcPct val="20000"/>
              </a:spcBef>
              <a:buFontTx/>
              <a:buChar char="–"/>
            </a:pPr>
            <a:r>
              <a:rPr lang="en-US" sz="2400" b="1">
                <a:latin typeface="Century Gothic" charset="0"/>
              </a:rPr>
              <a:t>E.g. </a:t>
            </a:r>
            <a:r>
              <a:rPr lang="ja-JP" altLang="en-US" sz="2400" b="1">
                <a:latin typeface="Century Gothic" charset="0"/>
              </a:rPr>
              <a:t>“</a:t>
            </a:r>
            <a:r>
              <a:rPr lang="en-US" altLang="ja-JP" sz="2400" b="1">
                <a:latin typeface="Century Gothic" charset="0"/>
              </a:rPr>
              <a:t>make a nice meal</a:t>
            </a:r>
            <a:r>
              <a:rPr lang="ja-JP" altLang="en-US" sz="2400" b="1">
                <a:latin typeface="Century Gothic" charset="0"/>
              </a:rPr>
              <a:t>”</a:t>
            </a:r>
            <a:endParaRPr lang="en-US" altLang="ja-JP" sz="2400" b="1">
              <a:latin typeface="Century Gothic" charset="0"/>
            </a:endParaRPr>
          </a:p>
          <a:p>
            <a:pPr marL="609600" indent="-609600">
              <a:spcBef>
                <a:spcPct val="20000"/>
              </a:spcBef>
              <a:buFont typeface="Monotype Sorts" charset="0"/>
              <a:buAutoNum type="arabicPeriod"/>
            </a:pPr>
            <a:r>
              <a:rPr lang="en-US" sz="2400" b="1">
                <a:latin typeface="Century Gothic" charset="0"/>
              </a:rPr>
              <a:t>Forming the intention</a:t>
            </a:r>
          </a:p>
          <a:p>
            <a:pPr marL="990600" lvl="1" indent="-533400">
              <a:spcBef>
                <a:spcPct val="20000"/>
              </a:spcBef>
              <a:buFontTx/>
              <a:buChar char="–"/>
            </a:pPr>
            <a:r>
              <a:rPr lang="en-US" sz="2400" b="1">
                <a:solidFill>
                  <a:srgbClr val="B40000"/>
                </a:solidFill>
                <a:latin typeface="Century Gothic" charset="0"/>
              </a:rPr>
              <a:t>Specific statements</a:t>
            </a:r>
            <a:r>
              <a:rPr lang="en-US" sz="2400" b="1">
                <a:latin typeface="Century Gothic" charset="0"/>
              </a:rPr>
              <a:t> of what has to be done to achieve the goal</a:t>
            </a:r>
          </a:p>
          <a:p>
            <a:pPr marL="990600" lvl="1" indent="-533400">
              <a:spcBef>
                <a:spcPct val="20000"/>
              </a:spcBef>
              <a:buFontTx/>
              <a:buChar char="–"/>
            </a:pPr>
            <a:r>
              <a:rPr lang="en-US" sz="2400" b="1">
                <a:latin typeface="Century Gothic" charset="0"/>
              </a:rPr>
              <a:t>E.g. </a:t>
            </a:r>
            <a:r>
              <a:rPr lang="ja-JP" altLang="en-US" sz="2400" b="1">
                <a:latin typeface="Century Gothic" charset="0"/>
              </a:rPr>
              <a:t>“</a:t>
            </a:r>
            <a:r>
              <a:rPr lang="en-US" altLang="ja-JP" sz="2400" b="1">
                <a:latin typeface="Century Gothic" charset="0"/>
              </a:rPr>
              <a:t>make a chicken casserole using a can of prepared sauce</a:t>
            </a:r>
            <a:r>
              <a:rPr lang="ja-JP" altLang="en-US" sz="2400" b="1">
                <a:latin typeface="Century Gothic" charset="0"/>
              </a:rPr>
              <a:t>”</a:t>
            </a:r>
            <a:endParaRPr lang="en-US" sz="2400" b="1">
              <a:latin typeface="Century Gothic" charset="0"/>
            </a:endParaRPr>
          </a:p>
        </p:txBody>
      </p:sp>
      <p:sp>
        <p:nvSpPr>
          <p:cNvPr id="32771" name="Text Box 3"/>
          <p:cNvSpPr txBox="1">
            <a:spLocks noChangeArrowheads="1"/>
          </p:cNvSpPr>
          <p:nvPr/>
        </p:nvSpPr>
        <p:spPr bwMode="auto">
          <a:xfrm>
            <a:off x="1719263" y="411163"/>
            <a:ext cx="66738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3200" b="1">
                <a:solidFill>
                  <a:srgbClr val="B40000"/>
                </a:solidFill>
              </a:rPr>
              <a:t>Models of interaction - Execution </a:t>
            </a:r>
            <a:endParaRPr lang="en-US" sz="3200">
              <a:solidFill>
                <a:srgbClr val="B4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Footer Placeholder 4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7828AB2A-3BA9-1145-BA28-8243BD3CB0D2}" type="slidenum">
              <a:rPr lang="en-US" sz="1000"/>
              <a:pPr eaLnBrk="1" hangingPunct="1"/>
              <a:t>10</a:t>
            </a:fld>
            <a:endParaRPr lang="en-US" sz="1000"/>
          </a:p>
        </p:txBody>
      </p:sp>
      <p:sp>
        <p:nvSpPr>
          <p:cNvPr id="33794" name="Rectangle 2"/>
          <p:cNvSpPr>
            <a:spLocks noChangeArrowheads="1"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609600" indent="-609600">
              <a:spcBef>
                <a:spcPct val="20000"/>
              </a:spcBef>
              <a:buFont typeface="Monotype Sorts" charset="0"/>
              <a:buNone/>
            </a:pPr>
            <a:r>
              <a:rPr lang="en-US" sz="3200" b="1">
                <a:solidFill>
                  <a:srgbClr val="B40000"/>
                </a:solidFill>
              </a:rPr>
              <a:t>The seven stages of action</a:t>
            </a:r>
            <a:endParaRPr lang="en-US" sz="3200" b="1">
              <a:latin typeface="Century Gothic" charset="0"/>
            </a:endParaRPr>
          </a:p>
          <a:p>
            <a:pPr marL="609600" indent="-609600">
              <a:spcBef>
                <a:spcPct val="20000"/>
              </a:spcBef>
              <a:buFont typeface="Monotype Sorts" charset="0"/>
              <a:buAutoNum type="arabicPeriod" startAt="3"/>
            </a:pPr>
            <a:r>
              <a:rPr lang="en-US" sz="2800" b="1">
                <a:latin typeface="Century Gothic" charset="0"/>
              </a:rPr>
              <a:t>Specifying an action sequence</a:t>
            </a:r>
          </a:p>
          <a:p>
            <a:pPr marL="990600" lvl="1" indent="-533400">
              <a:spcBef>
                <a:spcPct val="20000"/>
              </a:spcBef>
              <a:buFontTx/>
              <a:buChar char="–"/>
            </a:pPr>
            <a:r>
              <a:rPr lang="en-US" sz="2400" b="1">
                <a:latin typeface="Century Gothic" charset="0"/>
              </a:rPr>
              <a:t>The precise </a:t>
            </a:r>
            <a:r>
              <a:rPr lang="en-US" sz="2400" b="1">
                <a:solidFill>
                  <a:srgbClr val="B40000"/>
                </a:solidFill>
                <a:latin typeface="Century Gothic" charset="0"/>
              </a:rPr>
              <a:t>sequence of operators</a:t>
            </a:r>
            <a:r>
              <a:rPr lang="en-US" sz="2400" b="1">
                <a:latin typeface="Century Gothic" charset="0"/>
              </a:rPr>
              <a:t> that must be performed to effect the intention</a:t>
            </a:r>
          </a:p>
          <a:p>
            <a:pPr marL="990600" lvl="1" indent="-533400">
              <a:spcBef>
                <a:spcPct val="20000"/>
              </a:spcBef>
              <a:buFontTx/>
              <a:buChar char="–"/>
            </a:pPr>
            <a:r>
              <a:rPr lang="en-US" sz="2400" b="1">
                <a:latin typeface="Century Gothic" charset="0"/>
              </a:rPr>
              <a:t>E.g. </a:t>
            </a:r>
            <a:r>
              <a:rPr lang="ja-JP" altLang="en-US" sz="2400" b="1">
                <a:latin typeface="Century Gothic" charset="0"/>
              </a:rPr>
              <a:t>“</a:t>
            </a:r>
            <a:r>
              <a:rPr lang="en-US" altLang="ja-JP" sz="2400" b="1">
                <a:latin typeface="Century Gothic" charset="0"/>
              </a:rPr>
              <a:t>defrost frozen chicken, open can</a:t>
            </a:r>
            <a:r>
              <a:rPr lang="ja-JP" altLang="en-US" sz="2400" b="1">
                <a:latin typeface="Century Gothic" charset="0"/>
              </a:rPr>
              <a:t>”</a:t>
            </a:r>
            <a:endParaRPr lang="en-US" altLang="ja-JP" sz="2400" b="1">
              <a:latin typeface="Century Gothic" charset="0"/>
            </a:endParaRPr>
          </a:p>
          <a:p>
            <a:pPr marL="609600" indent="-609600">
              <a:spcBef>
                <a:spcPct val="20000"/>
              </a:spcBef>
              <a:buFont typeface="Monotype Sorts" charset="0"/>
              <a:buAutoNum type="arabicPeriod" startAt="3"/>
            </a:pPr>
            <a:r>
              <a:rPr lang="en-US" sz="2800" b="1">
                <a:latin typeface="Century Gothic" charset="0"/>
              </a:rPr>
              <a:t>Executing an action</a:t>
            </a:r>
          </a:p>
          <a:p>
            <a:pPr marL="990600" lvl="1" indent="-533400">
              <a:spcBef>
                <a:spcPct val="20000"/>
              </a:spcBef>
              <a:buFontTx/>
              <a:buChar char="–"/>
            </a:pPr>
            <a:r>
              <a:rPr lang="en-US" sz="2400" b="1">
                <a:latin typeface="Century Gothic" charset="0"/>
              </a:rPr>
              <a:t>Actually </a:t>
            </a:r>
            <a:r>
              <a:rPr lang="en-US" sz="2400" b="1">
                <a:solidFill>
                  <a:srgbClr val="B40000"/>
                </a:solidFill>
                <a:latin typeface="Century Gothic" charset="0"/>
              </a:rPr>
              <a:t>doing something</a:t>
            </a:r>
          </a:p>
          <a:p>
            <a:pPr marL="990600" lvl="1" indent="-533400">
              <a:spcBef>
                <a:spcPct val="20000"/>
              </a:spcBef>
              <a:buFontTx/>
              <a:buChar char="–"/>
            </a:pPr>
            <a:r>
              <a:rPr lang="en-US" sz="2400" b="1">
                <a:latin typeface="Century Gothic" charset="0"/>
              </a:rPr>
              <a:t>E.g. </a:t>
            </a:r>
            <a:r>
              <a:rPr lang="ja-JP" altLang="en-US" sz="2400" b="1">
                <a:latin typeface="Century Gothic" charset="0"/>
              </a:rPr>
              <a:t>“</a:t>
            </a:r>
            <a:r>
              <a:rPr lang="en-US" altLang="ja-JP" sz="2400" b="1">
                <a:latin typeface="Century Gothic" charset="0"/>
              </a:rPr>
              <a:t>opening the can</a:t>
            </a:r>
            <a:r>
              <a:rPr lang="ja-JP" altLang="en-US" sz="2400" b="1">
                <a:latin typeface="Century Gothic" charset="0"/>
              </a:rPr>
              <a:t>”</a:t>
            </a:r>
            <a:endParaRPr lang="en-US" sz="2400" b="1">
              <a:latin typeface="Century Gothic" charset="0"/>
            </a:endParaRPr>
          </a:p>
        </p:txBody>
      </p:sp>
      <p:sp>
        <p:nvSpPr>
          <p:cNvPr id="33795" name="Text Box 3"/>
          <p:cNvSpPr txBox="1">
            <a:spLocks noChangeArrowheads="1"/>
          </p:cNvSpPr>
          <p:nvPr/>
        </p:nvSpPr>
        <p:spPr bwMode="auto">
          <a:xfrm>
            <a:off x="1719263" y="411163"/>
            <a:ext cx="66738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3200" b="1">
                <a:solidFill>
                  <a:srgbClr val="B40000"/>
                </a:solidFill>
              </a:rPr>
              <a:t>Models of interaction - Execution </a:t>
            </a:r>
            <a:endParaRPr lang="en-US" sz="3200">
              <a:solidFill>
                <a:srgbClr val="B4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Footer Placeholder 2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319B282F-9551-8E40-AD0F-513FC12ACE83}" type="slidenum">
              <a:rPr lang="en-US" sz="1000"/>
              <a:pPr eaLnBrk="1" hangingPunct="1"/>
              <a:t>11</a:t>
            </a:fld>
            <a:endParaRPr lang="en-US" sz="1000"/>
          </a:p>
        </p:txBody>
      </p:sp>
      <p:sp>
        <p:nvSpPr>
          <p:cNvPr id="34818" name="Rectangle 2"/>
          <p:cNvSpPr>
            <a:spLocks noChangeArrowheads="1"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609600" indent="-609600">
              <a:spcBef>
                <a:spcPct val="20000"/>
              </a:spcBef>
              <a:buFont typeface="Monotype Sorts" charset="0"/>
              <a:buNone/>
            </a:pPr>
            <a:r>
              <a:rPr lang="en-US" sz="3200" b="1">
                <a:solidFill>
                  <a:srgbClr val="B40000"/>
                </a:solidFill>
              </a:rPr>
              <a:t>The seven stages of action</a:t>
            </a:r>
            <a:endParaRPr lang="en-US" sz="3200" b="1"/>
          </a:p>
          <a:p>
            <a:pPr marL="609600" indent="-609600">
              <a:spcBef>
                <a:spcPct val="20000"/>
              </a:spcBef>
              <a:buFont typeface="Monotype Sorts" charset="0"/>
              <a:buNone/>
            </a:pPr>
            <a:r>
              <a:rPr lang="en-US" sz="2800" b="1">
                <a:latin typeface="Century Gothic" charset="0"/>
              </a:rPr>
              <a:t>5.	Perceiving the state of the world</a:t>
            </a:r>
          </a:p>
          <a:p>
            <a:pPr marL="990600" lvl="1" indent="-533400">
              <a:spcBef>
                <a:spcPct val="20000"/>
              </a:spcBef>
              <a:buFontTx/>
              <a:buChar char="–"/>
            </a:pPr>
            <a:r>
              <a:rPr lang="en-US" sz="2400" b="1">
                <a:latin typeface="Century Gothic" charset="0"/>
              </a:rPr>
              <a:t>Perceiving what </a:t>
            </a:r>
            <a:r>
              <a:rPr lang="en-US" sz="2400" b="1">
                <a:solidFill>
                  <a:srgbClr val="B40000"/>
                </a:solidFill>
              </a:rPr>
              <a:t>actually happened</a:t>
            </a:r>
          </a:p>
          <a:p>
            <a:pPr marL="990600" lvl="1" indent="-533400">
              <a:spcBef>
                <a:spcPct val="20000"/>
              </a:spcBef>
              <a:buFontTx/>
              <a:buChar char="–"/>
            </a:pPr>
            <a:r>
              <a:rPr lang="en-US" sz="2400" b="1">
                <a:latin typeface="Century Gothic" charset="0"/>
              </a:rPr>
              <a:t>E.g. the experience of smell, taste and look of the prepared meal</a:t>
            </a:r>
          </a:p>
          <a:p>
            <a:pPr marL="609600" indent="-609600">
              <a:spcBef>
                <a:spcPct val="20000"/>
              </a:spcBef>
              <a:buFont typeface="Monotype Sorts" charset="0"/>
              <a:buNone/>
            </a:pPr>
            <a:r>
              <a:rPr lang="en-US" sz="2800" b="1">
                <a:latin typeface="Century Gothic" charset="0"/>
              </a:rPr>
              <a:t>6.  Interpreting the state of the world</a:t>
            </a:r>
          </a:p>
          <a:p>
            <a:pPr marL="990600" lvl="1" indent="-533400">
              <a:spcBef>
                <a:spcPct val="20000"/>
              </a:spcBef>
              <a:buFontTx/>
              <a:buChar char="–"/>
            </a:pPr>
            <a:r>
              <a:rPr lang="en-US" sz="2400" b="1">
                <a:latin typeface="Century Gothic" charset="0"/>
              </a:rPr>
              <a:t>Trying to </a:t>
            </a:r>
            <a:r>
              <a:rPr lang="en-US" sz="2400" b="1">
                <a:solidFill>
                  <a:srgbClr val="B40000"/>
                </a:solidFill>
              </a:rPr>
              <a:t>make sense</a:t>
            </a:r>
            <a:r>
              <a:rPr lang="en-US" sz="2400" b="1">
                <a:latin typeface="Century Gothic" charset="0"/>
              </a:rPr>
              <a:t> of the perceptions available</a:t>
            </a:r>
          </a:p>
          <a:p>
            <a:pPr marL="990600" lvl="1" indent="-533400">
              <a:spcBef>
                <a:spcPct val="20000"/>
              </a:spcBef>
              <a:buFontTx/>
              <a:buChar char="–"/>
            </a:pPr>
            <a:r>
              <a:rPr lang="en-US" sz="2400" b="1">
                <a:latin typeface="Century Gothic" charset="0"/>
              </a:rPr>
              <a:t>E.g. putting those perceptions together to present the sensory experience of a chicken casserole – thick sauce and smelled delicious</a:t>
            </a:r>
          </a:p>
        </p:txBody>
      </p:sp>
      <p:sp>
        <p:nvSpPr>
          <p:cNvPr id="34819" name="Text Box 3"/>
          <p:cNvSpPr txBox="1">
            <a:spLocks noChangeArrowheads="1"/>
          </p:cNvSpPr>
          <p:nvPr/>
        </p:nvSpPr>
        <p:spPr bwMode="auto">
          <a:xfrm>
            <a:off x="1719263" y="411163"/>
            <a:ext cx="678656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3200" b="1">
                <a:solidFill>
                  <a:srgbClr val="B40000"/>
                </a:solidFill>
              </a:rPr>
              <a:t>Models of interaction - Evaluation </a:t>
            </a:r>
            <a:endParaRPr lang="en-US" sz="3200">
              <a:solidFill>
                <a:srgbClr val="B4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EBF19002-3F9E-3546-8320-91F36CA1F3A6}" type="slidenum">
              <a:rPr lang="en-US" sz="1000"/>
              <a:pPr eaLnBrk="1" hangingPunct="1"/>
              <a:t>12</a:t>
            </a:fld>
            <a:endParaRPr lang="en-US" sz="1000"/>
          </a:p>
        </p:txBody>
      </p:sp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609600" indent="-609600">
              <a:spcBef>
                <a:spcPct val="20000"/>
              </a:spcBef>
              <a:buFont typeface="Monotype Sorts" charset="0"/>
              <a:buNone/>
            </a:pPr>
            <a:r>
              <a:rPr lang="en-US" sz="3200" b="1">
                <a:solidFill>
                  <a:srgbClr val="B40000"/>
                </a:solidFill>
              </a:rPr>
              <a:t>The seven stages of action</a:t>
            </a:r>
            <a:endParaRPr lang="en-US" sz="3200" b="1"/>
          </a:p>
          <a:p>
            <a:pPr marL="609600" indent="-609600">
              <a:spcBef>
                <a:spcPct val="20000"/>
              </a:spcBef>
            </a:pPr>
            <a:r>
              <a:rPr lang="en-US" sz="2400" b="1">
                <a:latin typeface="Century Gothic" charset="0"/>
              </a:rPr>
              <a:t>7. Evaluating the outcome</a:t>
            </a:r>
          </a:p>
          <a:p>
            <a:pPr marL="990600" lvl="1" indent="-533400">
              <a:spcBef>
                <a:spcPct val="20000"/>
              </a:spcBef>
              <a:buFontTx/>
              <a:buChar char="–"/>
            </a:pPr>
            <a:r>
              <a:rPr lang="en-US" sz="2400" b="1">
                <a:solidFill>
                  <a:srgbClr val="B40000"/>
                </a:solidFill>
              </a:rPr>
              <a:t>Comparing</a:t>
            </a:r>
            <a:r>
              <a:rPr lang="en-US" sz="2400" b="1">
                <a:latin typeface="Century Gothic" charset="0"/>
              </a:rPr>
              <a:t> what happened with what was wanted</a:t>
            </a:r>
          </a:p>
          <a:p>
            <a:pPr marL="990600" lvl="1" indent="-533400">
              <a:spcBef>
                <a:spcPct val="20000"/>
              </a:spcBef>
              <a:buFontTx/>
              <a:buChar char="–"/>
            </a:pPr>
            <a:r>
              <a:rPr lang="en-US" sz="2400" b="1">
                <a:latin typeface="Century Gothic" charset="0"/>
              </a:rPr>
              <a:t>E.g. did the chicken casserole match up to the requirement of </a:t>
            </a:r>
            <a:r>
              <a:rPr lang="ja-JP" altLang="en-US" sz="2400" b="1">
                <a:latin typeface="Century Gothic" charset="0"/>
              </a:rPr>
              <a:t>“</a:t>
            </a:r>
            <a:r>
              <a:rPr lang="en-US" altLang="ja-JP" sz="2400" b="1">
                <a:latin typeface="Century Gothic" charset="0"/>
              </a:rPr>
              <a:t>a nice meal</a:t>
            </a:r>
            <a:r>
              <a:rPr lang="ja-JP" altLang="en-US" sz="2400" b="1">
                <a:latin typeface="Century Gothic" charset="0"/>
              </a:rPr>
              <a:t>”</a:t>
            </a:r>
            <a:r>
              <a:rPr lang="en-US" altLang="ja-JP" sz="2400" b="1">
                <a:latin typeface="Century Gothic" charset="0"/>
              </a:rPr>
              <a:t>?</a:t>
            </a:r>
            <a:endParaRPr lang="en-US" sz="2400" b="1">
              <a:latin typeface="Century Gothic" charset="0"/>
            </a:endParaRPr>
          </a:p>
        </p:txBody>
      </p:sp>
      <p:sp>
        <p:nvSpPr>
          <p:cNvPr id="35843" name="Text Box 3"/>
          <p:cNvSpPr txBox="1">
            <a:spLocks noChangeArrowheads="1"/>
          </p:cNvSpPr>
          <p:nvPr/>
        </p:nvSpPr>
        <p:spPr bwMode="auto">
          <a:xfrm>
            <a:off x="1719263" y="411163"/>
            <a:ext cx="678656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3200" b="1">
                <a:solidFill>
                  <a:srgbClr val="B40000"/>
                </a:solidFill>
              </a:rPr>
              <a:t>Models of interaction - Evaluation </a:t>
            </a:r>
            <a:endParaRPr lang="en-US" sz="3200">
              <a:solidFill>
                <a:srgbClr val="B4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755821D0-D63C-2D41-B03E-AFC500D10A45}" type="slidenum">
              <a:rPr lang="en-US" sz="1000"/>
              <a:pPr eaLnBrk="1" hangingPunct="1"/>
              <a:t>13</a:t>
            </a:fld>
            <a:endParaRPr lang="en-US" sz="1000"/>
          </a:p>
        </p:txBody>
      </p:sp>
      <p:sp>
        <p:nvSpPr>
          <p:cNvPr id="16387" name="Rectangle 2"/>
          <p:cNvSpPr>
            <a:spLocks noChangeArrowheads="1"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endParaRPr lang="en-US" sz="3200" dirty="0">
              <a:cs typeface="+mn-cs"/>
            </a:endParaRPr>
          </a:p>
          <a:p>
            <a:pPr marL="457200" indent="-457200">
              <a:buFont typeface="Arial"/>
              <a:buChar char="•"/>
              <a:defRPr/>
            </a:pPr>
            <a:r>
              <a:rPr lang="en-US" sz="3200" dirty="0">
                <a:cs typeface="+mn-cs"/>
              </a:rPr>
              <a:t>Donald Norman divides interaction into two cycles which are Execution and Evaluation. Explain the </a:t>
            </a:r>
            <a:r>
              <a:rPr lang="en-US" sz="3200" b="1" dirty="0">
                <a:cs typeface="+mn-cs"/>
              </a:rPr>
              <a:t>SEVEN </a:t>
            </a:r>
            <a:r>
              <a:rPr lang="en-US" sz="3200" dirty="0">
                <a:cs typeface="+mn-cs"/>
              </a:rPr>
              <a:t>(7) stages of Norman’s Gulf of Execution and Evaluation. Provide a scenario as an example to support your answer.</a:t>
            </a:r>
          </a:p>
          <a:p>
            <a:pPr>
              <a:defRPr/>
            </a:pPr>
            <a:endParaRPr lang="en-US" sz="3200" dirty="0">
              <a:cs typeface="+mn-cs"/>
            </a:endParaRPr>
          </a:p>
          <a:p>
            <a:pPr algn="r">
              <a:defRPr/>
            </a:pPr>
            <a:r>
              <a:rPr lang="en-US" sz="3200" b="1" dirty="0">
                <a:cs typeface="+mn-cs"/>
              </a:rPr>
              <a:t>(16 marks)</a:t>
            </a:r>
            <a:endParaRPr lang="en-US" sz="3200" dirty="0">
              <a:cs typeface="+mn-cs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endParaRPr lang="en-US" sz="3200" b="1" dirty="0">
              <a:cs typeface="+mn-cs"/>
            </a:endParaRPr>
          </a:p>
        </p:txBody>
      </p:sp>
      <p:sp>
        <p:nvSpPr>
          <p:cNvPr id="36867" name="Text Box 3"/>
          <p:cNvSpPr txBox="1">
            <a:spLocks noChangeArrowheads="1"/>
          </p:cNvSpPr>
          <p:nvPr/>
        </p:nvSpPr>
        <p:spPr bwMode="auto">
          <a:xfrm>
            <a:off x="1719263" y="411163"/>
            <a:ext cx="46926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3200" b="1">
                <a:solidFill>
                  <a:srgbClr val="B40000"/>
                </a:solidFill>
              </a:rPr>
              <a:t>Quick Review Question</a:t>
            </a:r>
            <a:endParaRPr lang="en-US" sz="3200">
              <a:solidFill>
                <a:srgbClr val="B4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4A06AB20-87A0-DF47-A4F2-F2AE2B929CB6}" type="slidenum">
              <a:rPr lang="en-US" sz="1000"/>
              <a:pPr eaLnBrk="1" hangingPunct="1"/>
              <a:t>14</a:t>
            </a:fld>
            <a:endParaRPr lang="en-US" sz="1000"/>
          </a:p>
        </p:txBody>
      </p:sp>
      <p:sp>
        <p:nvSpPr>
          <p:cNvPr id="37890" name="Text Box 2"/>
          <p:cNvSpPr txBox="1">
            <a:spLocks noChangeArrowheads="1"/>
          </p:cNvSpPr>
          <p:nvPr/>
        </p:nvSpPr>
        <p:spPr bwMode="auto">
          <a:xfrm>
            <a:off x="1719263" y="411163"/>
            <a:ext cx="482896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3200" b="1" dirty="0">
                <a:solidFill>
                  <a:srgbClr val="B40000"/>
                </a:solidFill>
              </a:rPr>
              <a:t>Interaction Type &amp; Style</a:t>
            </a:r>
            <a:endParaRPr lang="en-US" sz="3200" dirty="0">
              <a:solidFill>
                <a:srgbClr val="B40000"/>
              </a:solidFill>
            </a:endParaRPr>
          </a:p>
        </p:txBody>
      </p:sp>
      <p:sp>
        <p:nvSpPr>
          <p:cNvPr id="37891" name="Rectangle 3"/>
          <p:cNvSpPr>
            <a:spLocks noChangeArrowheads="1"/>
          </p:cNvSpPr>
          <p:nvPr/>
        </p:nvSpPr>
        <p:spPr bwMode="auto">
          <a:xfrm>
            <a:off x="491066" y="1329267"/>
            <a:ext cx="822960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lnSpc>
                <a:spcPct val="120000"/>
              </a:lnSpc>
              <a:spcBef>
                <a:spcPct val="20000"/>
              </a:spcBef>
              <a:buFontTx/>
              <a:buChar char="•"/>
            </a:pPr>
            <a:r>
              <a:rPr lang="en-US" sz="2400" b="1" dirty="0"/>
              <a:t>Dialog between the computer and user.</a:t>
            </a: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FontTx/>
              <a:buChar char="•"/>
            </a:pPr>
            <a:r>
              <a:rPr lang="en-US" sz="2400" b="1" dirty="0"/>
              <a:t>Identification of interaction types:</a:t>
            </a:r>
          </a:p>
          <a:p>
            <a:pPr marL="628650" lvl="1" indent="-171450">
              <a:buFont typeface="Arial"/>
              <a:buChar char="•"/>
            </a:pPr>
            <a:r>
              <a:rPr lang="en-US" altLang="ja-JP" sz="2000" b="1" dirty="0"/>
              <a:t>Instructing – command –based</a:t>
            </a:r>
          </a:p>
          <a:p>
            <a:pPr marL="628650" lvl="1" indent="-171450">
              <a:buFont typeface="Arial"/>
              <a:buChar char="•"/>
            </a:pPr>
            <a:r>
              <a:rPr lang="en-US" altLang="ja-JP" sz="2000" b="1" dirty="0"/>
              <a:t>Conversing – dialogue –based</a:t>
            </a:r>
          </a:p>
          <a:p>
            <a:pPr marL="628650" lvl="1" indent="-171450">
              <a:buFont typeface="Arial"/>
              <a:buChar char="•"/>
            </a:pPr>
            <a:r>
              <a:rPr lang="en-US" altLang="ja-JP" sz="2000" b="1" dirty="0"/>
              <a:t>Manipulating – static interaction with the environment</a:t>
            </a:r>
          </a:p>
          <a:p>
            <a:pPr marL="628650" lvl="1" indent="-171450">
              <a:buFont typeface="Arial"/>
              <a:buChar char="•"/>
            </a:pPr>
            <a:r>
              <a:rPr lang="en-US" altLang="ja-JP" sz="2000" b="1" dirty="0"/>
              <a:t>Exploring – dynamic interaction with the environment</a:t>
            </a:r>
            <a:endParaRPr lang="en-US" sz="2000" b="1" dirty="0"/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FontTx/>
              <a:buChar char="•"/>
            </a:pPr>
            <a:r>
              <a:rPr lang="en-US" sz="2400" b="1" dirty="0"/>
              <a:t>Interaction styles :</a:t>
            </a:r>
          </a:p>
          <a:p>
            <a:pPr marL="800100" lvl="1" indent="-342900">
              <a:lnSpc>
                <a:spcPct val="120000"/>
              </a:lnSpc>
              <a:spcBef>
                <a:spcPct val="20000"/>
              </a:spcBef>
              <a:buFontTx/>
              <a:buChar char="•"/>
            </a:pPr>
            <a:r>
              <a:rPr lang="en-US" sz="2000" b="1" dirty="0"/>
              <a:t>Command Line, Speech, Data entry, Query, Graphical, Web, Pen, Augmented reality, Gesture, Form fill-in, Menus, Questions and answers, WIMP and others</a:t>
            </a: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FontTx/>
              <a:buChar char="•"/>
            </a:pPr>
            <a:endParaRPr lang="en-US" sz="2400" b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332" y="97410"/>
            <a:ext cx="7042150" cy="1143000"/>
          </a:xfrm>
        </p:spPr>
        <p:txBody>
          <a:bodyPr/>
          <a:lstStyle/>
          <a:p>
            <a:r>
              <a:rPr lang="en-US" dirty="0"/>
              <a:t>Interaction Type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6248400" y="6451600"/>
            <a:ext cx="2895600" cy="234950"/>
          </a:xfrm>
        </p:spPr>
        <p:txBody>
          <a:bodyPr/>
          <a:lstStyle/>
          <a:p>
            <a:pPr>
              <a:defRPr/>
            </a:pPr>
            <a:fld id="{1114B094-0EA0-934E-9DDF-468224908F38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79400" y="1246188"/>
            <a:ext cx="8585200" cy="2862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 dirty="0"/>
              <a:t>Instructing </a:t>
            </a:r>
          </a:p>
          <a:p>
            <a:pPr marL="742950" lvl="2" indent="-285750">
              <a:buFont typeface="Arial"/>
              <a:buChar char="•"/>
            </a:pPr>
            <a:r>
              <a:rPr lang="en-US" dirty="0"/>
              <a:t>Where user issuing commands and selecting options to a system</a:t>
            </a:r>
            <a:endParaRPr lang="en-US" b="1" dirty="0"/>
          </a:p>
          <a:p>
            <a:pPr marL="742950" lvl="1" indent="-285750">
              <a:buFont typeface="Arial"/>
              <a:buChar char="•"/>
            </a:pPr>
            <a:r>
              <a:rPr lang="en-US" dirty="0"/>
              <a:t>Example: Typing in command, selecting options </a:t>
            </a:r>
            <a:r>
              <a:rPr lang="en-US" dirty="0" err="1"/>
              <a:t>froms</a:t>
            </a:r>
            <a:r>
              <a:rPr lang="en-US" dirty="0"/>
              <a:t> menus in a windows environment or on a </a:t>
            </a:r>
            <a:r>
              <a:rPr lang="en-US" dirty="0" err="1"/>
              <a:t>multitouch</a:t>
            </a:r>
            <a:r>
              <a:rPr lang="en-US" dirty="0"/>
              <a:t> screen, pressing button or using a combination of function keys and etc.</a:t>
            </a:r>
          </a:p>
          <a:p>
            <a:pPr lvl="1"/>
            <a:r>
              <a:rPr lang="en-US" dirty="0"/>
              <a:t>• Very common conceptual model, underlying a diversity of devices and systems</a:t>
            </a:r>
          </a:p>
          <a:p>
            <a:pPr lvl="2"/>
            <a:r>
              <a:rPr lang="en-US" dirty="0"/>
              <a:t>– e.g. word processors, VCRs, vending machines</a:t>
            </a:r>
          </a:p>
          <a:p>
            <a:pPr lvl="1"/>
            <a:r>
              <a:rPr lang="en-US" dirty="0"/>
              <a:t>• Main benefit is that instructing supports quick and efficient interaction</a:t>
            </a:r>
          </a:p>
          <a:p>
            <a:pPr lvl="2"/>
            <a:r>
              <a:rPr lang="en-US" dirty="0"/>
              <a:t>– good for repetitive kinds of actions performed on multiple objects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23332" y="4095449"/>
            <a:ext cx="8348133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 dirty="0"/>
              <a:t>Conversing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/>
              <a:t>Underlying model of having a conversation with another human. Where users have a dialog with a system.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/>
              <a:t>Range from simple voice recognition menu driven systems to more complex ‘natural language’ dialogs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/>
              <a:t>Example: speaking via an interface or typing in questions to which the system replies via text or speech output. 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/>
              <a:t> Also virtual agents, toys and pet robots designed to converse with you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49948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 Type Cont..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fld id="{1114B094-0EA0-934E-9DDF-468224908F38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87866" y="1542415"/>
            <a:ext cx="8466667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 dirty="0"/>
              <a:t>Manipulating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/>
              <a:t>interacting with objects in a virtual or physical space by manipulating them</a:t>
            </a:r>
            <a:endParaRPr lang="en-US" b="1" dirty="0"/>
          </a:p>
          <a:p>
            <a:pPr marL="742950" lvl="1" indent="-285750">
              <a:buFont typeface="Arial"/>
              <a:buChar char="•"/>
            </a:pPr>
            <a:r>
              <a:rPr lang="en-US" dirty="0"/>
              <a:t>Involves dragging, selecting, opening, closing and zooming actions on virtual objects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/>
              <a:t>Exploit’s users’ knowledge of how they move and manipulate in the physical world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/>
              <a:t>Can involve actions using physical controllers(e.g. Wii) or air gestures (e.g. </a:t>
            </a:r>
            <a:r>
              <a:rPr lang="en-US" dirty="0" err="1"/>
              <a:t>Kinect</a:t>
            </a:r>
            <a:r>
              <a:rPr lang="en-US" dirty="0"/>
              <a:t>) to control the movements of an on screen avatar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/>
              <a:t>Tagged physical objects (e.g. balls) that are manipulated in a physical world result in physical/digital events (e.g. animation)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/>
              <a:t>Direct Manipulation 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198" y="4722342"/>
            <a:ext cx="7907867" cy="17543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 dirty="0"/>
              <a:t>Exploring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/>
              <a:t>moving through a virtual environment or a physical space</a:t>
            </a:r>
            <a:endParaRPr lang="en-US" b="1" dirty="0"/>
          </a:p>
          <a:p>
            <a:pPr marL="742950" lvl="1" indent="-285750">
              <a:buFont typeface="Arial"/>
              <a:buChar char="•"/>
            </a:pPr>
            <a:r>
              <a:rPr lang="en-US" dirty="0"/>
              <a:t>Involves users moving through virtual or physical environments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/>
              <a:t>Example: 3D worlds, augmented and virtual reality systems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/>
              <a:t>Physical environments with embedded sensor technologies</a:t>
            </a:r>
          </a:p>
          <a:p>
            <a:pPr marL="1200150" lvl="2" indent="-285750">
              <a:buFont typeface="Arial"/>
              <a:buChar char="•"/>
            </a:pPr>
            <a:r>
              <a:rPr lang="en-US" dirty="0"/>
              <a:t>Context aware</a:t>
            </a:r>
          </a:p>
        </p:txBody>
      </p:sp>
    </p:spTree>
    <p:extLst>
      <p:ext uri="{BB962C8B-B14F-4D97-AF65-F5344CB8AC3E}">
        <p14:creationId xmlns:p14="http://schemas.microsoft.com/office/powerpoint/2010/main" val="4084533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Footer Placeholder 4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C59BF2C2-D37A-FB47-97D2-D634A64F9EDA}" type="slidenum">
              <a:rPr lang="en-US" sz="1000"/>
              <a:pPr eaLnBrk="1" hangingPunct="1"/>
              <a:t>17</a:t>
            </a:fld>
            <a:endParaRPr lang="en-US" sz="1000"/>
          </a:p>
        </p:txBody>
      </p:sp>
      <p:sp>
        <p:nvSpPr>
          <p:cNvPr id="38914" name="Text Box 2"/>
          <p:cNvSpPr txBox="1">
            <a:spLocks noChangeArrowheads="1"/>
          </p:cNvSpPr>
          <p:nvPr/>
        </p:nvSpPr>
        <p:spPr bwMode="auto">
          <a:xfrm>
            <a:off x="2955396" y="106366"/>
            <a:ext cx="3377247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3200" b="1" dirty="0">
                <a:solidFill>
                  <a:srgbClr val="B40000"/>
                </a:solidFill>
              </a:rPr>
              <a:t>Interaction Style</a:t>
            </a:r>
            <a:endParaRPr lang="en-US" sz="3200" dirty="0">
              <a:solidFill>
                <a:srgbClr val="B40000"/>
              </a:solidFill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9768972"/>
              </p:ext>
            </p:extLst>
          </p:nvPr>
        </p:nvGraphicFramePr>
        <p:xfrm>
          <a:off x="118531" y="789095"/>
          <a:ext cx="8974670" cy="594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754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99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19810">
                <a:tc>
                  <a:txBody>
                    <a:bodyPr/>
                    <a:lstStyle/>
                    <a:p>
                      <a:endParaRPr lang="en-US" sz="1400" dirty="0"/>
                    </a:p>
                    <a:p>
                      <a:endParaRPr lang="en-US" sz="1400" dirty="0"/>
                    </a:p>
                    <a:p>
                      <a:endParaRPr lang="en-US" sz="1400" dirty="0"/>
                    </a:p>
                    <a:p>
                      <a:endParaRPr lang="en-US" sz="1400" dirty="0"/>
                    </a:p>
                    <a:p>
                      <a:endParaRPr lang="en-US" sz="1400" dirty="0"/>
                    </a:p>
                    <a:p>
                      <a:endParaRPr lang="en-US" sz="1400" dirty="0"/>
                    </a:p>
                    <a:p>
                      <a:endParaRPr lang="en-US" sz="1400" dirty="0"/>
                    </a:p>
                    <a:p>
                      <a:endParaRPr lang="en-US" sz="1400" dirty="0"/>
                    </a:p>
                    <a:p>
                      <a:endParaRPr lang="en-US" sz="1400" dirty="0"/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2697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sz="1400" b="1" dirty="0"/>
                        <a:t>COMMAND LINE</a:t>
                      </a:r>
                    </a:p>
                    <a:p>
                      <a:pPr marL="342900" indent="-342900">
                        <a:lnSpc>
                          <a:spcPct val="120000"/>
                        </a:lnSpc>
                        <a:spcBef>
                          <a:spcPct val="20000"/>
                        </a:spcBef>
                        <a:buFontTx/>
                        <a:buChar char="•"/>
                      </a:pPr>
                      <a:r>
                        <a:rPr lang="en-US" sz="1400" b="0" dirty="0"/>
                        <a:t>First interactive dialog style to be used </a:t>
                      </a:r>
                    </a:p>
                    <a:p>
                      <a:pPr marL="342900" indent="-342900">
                        <a:lnSpc>
                          <a:spcPct val="120000"/>
                        </a:lnSpc>
                        <a:spcBef>
                          <a:spcPct val="20000"/>
                        </a:spcBef>
                        <a:buFontTx/>
                        <a:buChar char="•"/>
                      </a:pPr>
                      <a:r>
                        <a:rPr lang="en-US" sz="1400" b="0" dirty="0"/>
                        <a:t>A mean of expressing instruction to the computer directly using function keys, single characters, abbreviations or whole word command</a:t>
                      </a:r>
                    </a:p>
                    <a:p>
                      <a:pPr marL="342900" indent="-342900">
                        <a:lnSpc>
                          <a:spcPct val="120000"/>
                        </a:lnSpc>
                        <a:spcBef>
                          <a:spcPct val="20000"/>
                        </a:spcBef>
                        <a:buFontTx/>
                        <a:buChar char="•"/>
                      </a:pPr>
                      <a:r>
                        <a:rPr lang="en-US" sz="1400" b="0" dirty="0"/>
                        <a:t>user responds to a prompt on the screen by entering an appropriate command 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/>
                        <a:buNone/>
                      </a:pPr>
                      <a:r>
                        <a:rPr lang="en-US" sz="1400" b="1" dirty="0"/>
                        <a:t>WIMP</a:t>
                      </a:r>
                    </a:p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sz="1400" dirty="0"/>
                        <a:t>Xerox Star first WIMP -&gt; rise to GUIs</a:t>
                      </a:r>
                    </a:p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sz="1400" dirty="0"/>
                        <a:t>Windows</a:t>
                      </a:r>
                    </a:p>
                    <a:p>
                      <a:pPr marL="742950" lvl="1" indent="-285750">
                        <a:buFont typeface="Arial"/>
                        <a:buChar char="•"/>
                      </a:pPr>
                      <a:r>
                        <a:rPr lang="en-US" sz="1400" dirty="0"/>
                        <a:t>could be scrolled, stretched,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dirty="0"/>
                        <a:t>overlapped, opened, closed, and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dirty="0"/>
                        <a:t>moved around the screen using the mouse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400" dirty="0"/>
                        <a:t> Icons</a:t>
                      </a:r>
                    </a:p>
                    <a:p>
                      <a:pPr marL="742950" lvl="1" indent="-285750">
                        <a:buFont typeface="Arial"/>
                        <a:buChar char="•"/>
                      </a:pPr>
                      <a:r>
                        <a:rPr lang="en-US" sz="1400" dirty="0"/>
                        <a:t>represented applications, objects, commands, and tools that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dirty="0"/>
                        <a:t>were opened when clicked on</a:t>
                      </a:r>
                    </a:p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sz="1400" dirty="0"/>
                        <a:t> Menus</a:t>
                      </a:r>
                    </a:p>
                    <a:p>
                      <a:pPr marL="742950" lvl="1" indent="-285750">
                        <a:buFont typeface="Arial"/>
                        <a:buChar char="•"/>
                      </a:pPr>
                      <a:r>
                        <a:rPr lang="en-US" sz="1400" dirty="0"/>
                        <a:t>offering lists of options that could be scrolled through and</a:t>
                      </a:r>
                      <a:r>
                        <a:rPr lang="en-US" sz="1400" baseline="0" dirty="0"/>
                        <a:t> s</a:t>
                      </a:r>
                      <a:r>
                        <a:rPr lang="en-US" sz="1400" dirty="0"/>
                        <a:t>elected</a:t>
                      </a:r>
                    </a:p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sz="1400" dirty="0"/>
                        <a:t>Pointing device</a:t>
                      </a:r>
                    </a:p>
                    <a:p>
                      <a:pPr marL="742950" lvl="1" indent="-285750">
                        <a:buFont typeface="Arial"/>
                        <a:buChar char="•"/>
                      </a:pPr>
                      <a:r>
                        <a:rPr lang="en-US" sz="1400" dirty="0"/>
                        <a:t>a mouse controlling the cursor as a point of entry to the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dirty="0"/>
                        <a:t>windows, menus, and icons on the screen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0" name="Picture 4" descr="dos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2843" y="1048812"/>
            <a:ext cx="2612470" cy="1795992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7865" y="910132"/>
            <a:ext cx="2722033" cy="193466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Footer Placeholder 4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C59BF2C2-D37A-FB47-97D2-D634A64F9EDA}" type="slidenum">
              <a:rPr lang="en-US" sz="1000"/>
              <a:pPr eaLnBrk="1" hangingPunct="1"/>
              <a:t>18</a:t>
            </a:fld>
            <a:endParaRPr lang="en-US" sz="1000"/>
          </a:p>
        </p:txBody>
      </p:sp>
      <p:sp>
        <p:nvSpPr>
          <p:cNvPr id="38914" name="Text Box 2"/>
          <p:cNvSpPr txBox="1">
            <a:spLocks noChangeArrowheads="1"/>
          </p:cNvSpPr>
          <p:nvPr/>
        </p:nvSpPr>
        <p:spPr bwMode="auto">
          <a:xfrm>
            <a:off x="2328863" y="123300"/>
            <a:ext cx="4653638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3200" b="1" dirty="0">
                <a:solidFill>
                  <a:srgbClr val="B40000"/>
                </a:solidFill>
              </a:rPr>
              <a:t>Interaction Style Cont..</a:t>
            </a:r>
            <a:endParaRPr lang="en-US" sz="3200" dirty="0">
              <a:solidFill>
                <a:srgbClr val="B40000"/>
              </a:solidFill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7643696"/>
              </p:ext>
            </p:extLst>
          </p:nvPr>
        </p:nvGraphicFramePr>
        <p:xfrm>
          <a:off x="118531" y="789095"/>
          <a:ext cx="8974670" cy="57677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754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99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19810">
                <a:tc>
                  <a:txBody>
                    <a:bodyPr/>
                    <a:lstStyle/>
                    <a:p>
                      <a:endParaRPr lang="en-US" sz="1400" dirty="0"/>
                    </a:p>
                    <a:p>
                      <a:endParaRPr lang="en-US" sz="1400" dirty="0"/>
                    </a:p>
                    <a:p>
                      <a:endParaRPr lang="en-US" sz="1400" dirty="0"/>
                    </a:p>
                    <a:p>
                      <a:endParaRPr lang="en-US" sz="1400" dirty="0"/>
                    </a:p>
                    <a:p>
                      <a:endParaRPr lang="en-US" sz="1400" dirty="0"/>
                    </a:p>
                    <a:p>
                      <a:endParaRPr lang="en-US" sz="1400" dirty="0"/>
                    </a:p>
                    <a:p>
                      <a:endParaRPr lang="en-US" sz="1400" dirty="0"/>
                    </a:p>
                    <a:p>
                      <a:endParaRPr lang="en-US" sz="1400" dirty="0"/>
                    </a:p>
                    <a:p>
                      <a:endParaRPr lang="en-US" sz="1400" dirty="0"/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2697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sz="1400" b="1" dirty="0"/>
                        <a:t>GUI</a:t>
                      </a:r>
                    </a:p>
                    <a:p>
                      <a:pPr marL="285750" indent="-285750">
                        <a:buFont typeface="Arial"/>
                        <a:buChar char="•"/>
                      </a:pPr>
                      <a:endParaRPr lang="en-US" sz="1400" dirty="0"/>
                    </a:p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sz="1400" dirty="0"/>
                        <a:t>Same basic building blocks as WIMPs but more varied</a:t>
                      </a:r>
                    </a:p>
                    <a:p>
                      <a:pPr marL="742950" lvl="1" indent="-285750">
                        <a:buFont typeface="Arial"/>
                        <a:buChar char="•"/>
                      </a:pPr>
                      <a:r>
                        <a:rPr lang="en-US" sz="1400" dirty="0"/>
                        <a:t>Color, 3D, sound, animation,</a:t>
                      </a:r>
                    </a:p>
                    <a:p>
                      <a:pPr marL="742950" lvl="1" indent="-285750">
                        <a:buFont typeface="Arial"/>
                        <a:buChar char="•"/>
                      </a:pPr>
                      <a:r>
                        <a:rPr lang="en-US" sz="1400" dirty="0"/>
                        <a:t>Many types of menus, icons, windows</a:t>
                      </a:r>
                    </a:p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sz="1400" dirty="0"/>
                        <a:t>New graphical elements, e.g.</a:t>
                      </a:r>
                    </a:p>
                    <a:p>
                      <a:pPr marL="742950" lvl="1" indent="-285750">
                        <a:buFont typeface="Arial"/>
                        <a:buChar char="•"/>
                      </a:pPr>
                      <a:r>
                        <a:rPr lang="en-US" sz="1400" dirty="0"/>
                        <a:t>toolbars, docks, rollovers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/>
                        <a:buNone/>
                      </a:pPr>
                      <a:r>
                        <a:rPr lang="en-US" sz="1400" b="1" dirty="0"/>
                        <a:t>MENU</a:t>
                      </a:r>
                    </a:p>
                    <a:p>
                      <a:pPr marL="0" indent="0" algn="ctr">
                        <a:buFont typeface="Arial"/>
                        <a:buNone/>
                      </a:pPr>
                      <a:endParaRPr lang="en-US" sz="1400" b="1" dirty="0"/>
                    </a:p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sz="1400" dirty="0"/>
                        <a:t>A number of menu interface styles</a:t>
                      </a:r>
                    </a:p>
                    <a:p>
                      <a:pPr marL="742950" lvl="1" indent="-285750">
                        <a:buFont typeface="Arial"/>
                        <a:buChar char="•"/>
                      </a:pPr>
                      <a:r>
                        <a:rPr lang="en-US" sz="1400" dirty="0"/>
                        <a:t>flat lists, drop-down, pop-up, contextual, and expanding ones, e.g., scrolling and cascading</a:t>
                      </a:r>
                    </a:p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sz="1400" dirty="0"/>
                        <a:t>Flat menus</a:t>
                      </a:r>
                    </a:p>
                    <a:p>
                      <a:pPr marL="742950" lvl="1" indent="-285750">
                        <a:buFont typeface="Arial"/>
                        <a:buChar char="•"/>
                      </a:pPr>
                      <a:r>
                        <a:rPr lang="en-US" sz="1400" dirty="0"/>
                        <a:t>good at displaying a small number of options at the same time and where the size of the display is small, e.g. iPods</a:t>
                      </a:r>
                    </a:p>
                    <a:p>
                      <a:pPr marL="742950" lvl="1" indent="-285750">
                        <a:buFont typeface="Arial"/>
                        <a:buChar char="•"/>
                      </a:pPr>
                      <a:r>
                        <a:rPr lang="en-US" sz="1400" dirty="0"/>
                        <a:t>but have to nest the lists of options within each other, requiring several steps to get to the list with the desired option</a:t>
                      </a:r>
                    </a:p>
                    <a:p>
                      <a:pPr marL="742950" lvl="1" indent="-285750">
                        <a:buFont typeface="Arial"/>
                        <a:buChar char="•"/>
                      </a:pPr>
                      <a:r>
                        <a:rPr lang="en-US" sz="1400" dirty="0"/>
                        <a:t> moving through previous screens can be tedious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933" y="889399"/>
            <a:ext cx="3373966" cy="196386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8133" y="889337"/>
            <a:ext cx="2611080" cy="146439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9454" y="1168399"/>
            <a:ext cx="2498280" cy="1759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2693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Footer Placeholder 4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C59BF2C2-D37A-FB47-97D2-D634A64F9EDA}" type="slidenum">
              <a:rPr lang="en-US" sz="1000"/>
              <a:pPr eaLnBrk="1" hangingPunct="1"/>
              <a:t>19</a:t>
            </a:fld>
            <a:endParaRPr lang="en-US" sz="1000"/>
          </a:p>
        </p:txBody>
      </p:sp>
      <p:sp>
        <p:nvSpPr>
          <p:cNvPr id="38914" name="Text Box 2"/>
          <p:cNvSpPr txBox="1">
            <a:spLocks noChangeArrowheads="1"/>
          </p:cNvSpPr>
          <p:nvPr/>
        </p:nvSpPr>
        <p:spPr bwMode="auto">
          <a:xfrm>
            <a:off x="2328863" y="123300"/>
            <a:ext cx="4653638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3200" b="1" dirty="0">
                <a:solidFill>
                  <a:srgbClr val="B40000"/>
                </a:solidFill>
              </a:rPr>
              <a:t>Interaction Style Cont..</a:t>
            </a:r>
            <a:endParaRPr lang="en-US" sz="3200" dirty="0">
              <a:solidFill>
                <a:srgbClr val="B40000"/>
              </a:solidFill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6130380"/>
              </p:ext>
            </p:extLst>
          </p:nvPr>
        </p:nvGraphicFramePr>
        <p:xfrm>
          <a:off x="118531" y="789095"/>
          <a:ext cx="8974670" cy="57677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754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99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19810">
                <a:tc>
                  <a:txBody>
                    <a:bodyPr/>
                    <a:lstStyle/>
                    <a:p>
                      <a:endParaRPr lang="en-US" sz="1400" dirty="0"/>
                    </a:p>
                    <a:p>
                      <a:endParaRPr lang="en-US" sz="1400" dirty="0"/>
                    </a:p>
                    <a:p>
                      <a:endParaRPr lang="en-US" sz="1400" dirty="0"/>
                    </a:p>
                    <a:p>
                      <a:endParaRPr lang="en-US" sz="1400" dirty="0"/>
                    </a:p>
                    <a:p>
                      <a:endParaRPr lang="en-US" sz="1400" dirty="0"/>
                    </a:p>
                    <a:p>
                      <a:endParaRPr lang="en-US" sz="1400" dirty="0"/>
                    </a:p>
                    <a:p>
                      <a:endParaRPr lang="en-US" sz="1400" dirty="0"/>
                    </a:p>
                    <a:p>
                      <a:endParaRPr lang="en-US" sz="1400" dirty="0"/>
                    </a:p>
                    <a:p>
                      <a:endParaRPr lang="en-US" sz="1400" dirty="0"/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2697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sz="1400" b="1" dirty="0"/>
                        <a:t>SPEECH</a:t>
                      </a:r>
                      <a:r>
                        <a:rPr lang="en-US" sz="1400" b="1" baseline="0" dirty="0"/>
                        <a:t> </a:t>
                      </a:r>
                      <a:endParaRPr lang="en-US" sz="1400" b="1" dirty="0"/>
                    </a:p>
                    <a:p>
                      <a:pPr marL="285750" indent="-285750">
                        <a:buFont typeface="Arial"/>
                        <a:buChar char="•"/>
                      </a:pPr>
                      <a:endParaRPr lang="en-US" sz="1400" dirty="0"/>
                    </a:p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sz="1400" dirty="0"/>
                        <a:t>Where a person talks with a system that has a spoken language application, e.g., timetable, travel planner</a:t>
                      </a:r>
                    </a:p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sz="1400" dirty="0"/>
                        <a:t>Used most for inquiring about very specific information, e.g. flight times or to perform a transaction, e.g. buy a ticket</a:t>
                      </a:r>
                    </a:p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sz="1400" dirty="0"/>
                        <a:t>Also used by people with disabilities</a:t>
                      </a:r>
                    </a:p>
                    <a:p>
                      <a:pPr marL="742950" lvl="1" indent="-285750">
                        <a:buFont typeface="Arial"/>
                        <a:buChar char="•"/>
                      </a:pPr>
                      <a:r>
                        <a:rPr lang="en-US" sz="1400" dirty="0"/>
                        <a:t>e.g. speech recognition word processors, page scanners, web readers, home control systems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/>
                        <a:buNone/>
                      </a:pPr>
                      <a:r>
                        <a:rPr lang="en-US" sz="1400" b="1" dirty="0"/>
                        <a:t>VIRTUAL</a:t>
                      </a:r>
                      <a:r>
                        <a:rPr lang="en-US" sz="1400" b="1" baseline="0" dirty="0"/>
                        <a:t> REALITY </a:t>
                      </a:r>
                      <a:endParaRPr lang="en-US" sz="1400" b="1" dirty="0"/>
                    </a:p>
                    <a:p>
                      <a:pPr marL="0" indent="0" algn="ctr">
                        <a:buFont typeface="Arial"/>
                        <a:buNone/>
                      </a:pPr>
                      <a:endParaRPr lang="en-US" sz="1400" b="1" dirty="0"/>
                    </a:p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sz="1400" dirty="0"/>
                        <a:t>Computer-generated graphical simulations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dirty="0"/>
                        <a:t>providing:</a:t>
                      </a:r>
                    </a:p>
                    <a:p>
                      <a:pPr marL="742950" lvl="1" indent="-285750">
                        <a:buFont typeface="Arial"/>
                        <a:buChar char="•"/>
                      </a:pPr>
                      <a:r>
                        <a:rPr lang="en-US" sz="1400" dirty="0"/>
                        <a:t>“the illusion of participation in a synthetic environment rather than external observation of such an environment” (</a:t>
                      </a:r>
                      <a:r>
                        <a:rPr lang="en-US" sz="1400" dirty="0" err="1"/>
                        <a:t>Gigante</a:t>
                      </a:r>
                      <a:r>
                        <a:rPr lang="en-US" sz="1400" dirty="0"/>
                        <a:t>, 1993)</a:t>
                      </a:r>
                    </a:p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sz="1400" dirty="0"/>
                        <a:t>provide new kinds of experience, enabling users to interact with objects and navigate in 3D space</a:t>
                      </a:r>
                    </a:p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sz="1400" dirty="0"/>
                        <a:t>Create highly engaging user experiences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117" y="863599"/>
            <a:ext cx="3827116" cy="206586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5999" y="895190"/>
            <a:ext cx="3522133" cy="1946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8404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Footer Placeholder 4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C59BF2C2-D37A-FB47-97D2-D634A64F9EDA}" type="slidenum">
              <a:rPr lang="en-US" sz="1000"/>
              <a:pPr eaLnBrk="1" hangingPunct="1"/>
              <a:t>20</a:t>
            </a:fld>
            <a:endParaRPr lang="en-US" sz="1000"/>
          </a:p>
        </p:txBody>
      </p:sp>
      <p:sp>
        <p:nvSpPr>
          <p:cNvPr id="38914" name="Text Box 2"/>
          <p:cNvSpPr txBox="1">
            <a:spLocks noChangeArrowheads="1"/>
          </p:cNvSpPr>
          <p:nvPr/>
        </p:nvSpPr>
        <p:spPr bwMode="auto">
          <a:xfrm>
            <a:off x="2328863" y="123300"/>
            <a:ext cx="4653638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3200" b="1" dirty="0">
                <a:solidFill>
                  <a:srgbClr val="B40000"/>
                </a:solidFill>
              </a:rPr>
              <a:t>Interaction Style Cont..</a:t>
            </a:r>
            <a:endParaRPr lang="en-US" sz="3200" dirty="0">
              <a:solidFill>
                <a:srgbClr val="B40000"/>
              </a:solidFill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4449346"/>
              </p:ext>
            </p:extLst>
          </p:nvPr>
        </p:nvGraphicFramePr>
        <p:xfrm>
          <a:off x="118531" y="789095"/>
          <a:ext cx="8974670" cy="57677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754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99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19810">
                <a:tc>
                  <a:txBody>
                    <a:bodyPr/>
                    <a:lstStyle/>
                    <a:p>
                      <a:endParaRPr lang="en-US" sz="1400" dirty="0"/>
                    </a:p>
                    <a:p>
                      <a:endParaRPr lang="en-US" sz="1400" dirty="0"/>
                    </a:p>
                    <a:p>
                      <a:endParaRPr lang="en-US" sz="1400" dirty="0"/>
                    </a:p>
                    <a:p>
                      <a:endParaRPr lang="en-US" sz="1400" dirty="0"/>
                    </a:p>
                    <a:p>
                      <a:endParaRPr lang="en-US" sz="1400" dirty="0"/>
                    </a:p>
                    <a:p>
                      <a:endParaRPr lang="en-US" sz="1400" dirty="0"/>
                    </a:p>
                    <a:p>
                      <a:endParaRPr lang="en-US" sz="1400" dirty="0"/>
                    </a:p>
                    <a:p>
                      <a:endParaRPr lang="en-US" sz="1400" dirty="0"/>
                    </a:p>
                    <a:p>
                      <a:endParaRPr lang="en-US" sz="1400" dirty="0"/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2697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sz="1400" b="1" dirty="0"/>
                        <a:t>QUESTION</a:t>
                      </a:r>
                      <a:r>
                        <a:rPr lang="en-US" sz="1400" b="1" baseline="0" dirty="0"/>
                        <a:t> &amp; ANSWER</a:t>
                      </a:r>
                      <a:endParaRPr lang="en-US" sz="1400" b="1" dirty="0"/>
                    </a:p>
                    <a:p>
                      <a:pPr marL="285750" indent="-285750">
                        <a:buFont typeface="Arial"/>
                        <a:buChar char="•"/>
                      </a:pPr>
                      <a:endParaRPr lang="en-US" sz="1400" dirty="0"/>
                    </a:p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sz="1400" dirty="0"/>
                        <a:t>Computer displays a questions to the user and the user enters</a:t>
                      </a:r>
                      <a:r>
                        <a:rPr lang="en-US" sz="1400" baseline="0" dirty="0"/>
                        <a:t> an answer via a keyboard stroke or a mouse click</a:t>
                      </a:r>
                      <a:endParaRPr lang="en-US" sz="1400" dirty="0"/>
                    </a:p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sz="1400" dirty="0"/>
                        <a:t>The computer acts on that input information</a:t>
                      </a:r>
                      <a:r>
                        <a:rPr lang="en-US" sz="1400" baseline="0" dirty="0"/>
                        <a:t> in a preprogrammed manner, typically by moving to the next question</a:t>
                      </a:r>
                      <a:endParaRPr lang="en-US" sz="1400" dirty="0"/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/>
                        <a:buNone/>
                      </a:pPr>
                      <a:r>
                        <a:rPr lang="en-US" sz="1400" b="1" dirty="0"/>
                        <a:t>FORM-FILLS</a:t>
                      </a:r>
                      <a:r>
                        <a:rPr lang="en-US" sz="1400" b="1" baseline="0" dirty="0"/>
                        <a:t> </a:t>
                      </a:r>
                      <a:endParaRPr lang="en-US" sz="1400" b="1" dirty="0"/>
                    </a:p>
                    <a:p>
                      <a:pPr marL="0" indent="0" algn="ctr">
                        <a:buFont typeface="Arial"/>
                        <a:buNone/>
                      </a:pPr>
                      <a:endParaRPr lang="en-US" sz="1400" b="1" dirty="0"/>
                    </a:p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sz="1400" dirty="0"/>
                        <a:t>Is an on screen form or web-based form displaying fields containing data items or parameters that need to be communicated to the user. </a:t>
                      </a:r>
                    </a:p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sz="1400" dirty="0"/>
                        <a:t>Often is a facsimile of a paper</a:t>
                      </a:r>
                      <a:r>
                        <a:rPr lang="en-US" sz="1400" baseline="0" dirty="0"/>
                        <a:t> form which already familiar to the user.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99" y="877458"/>
            <a:ext cx="2785533" cy="205200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6132" y="919056"/>
            <a:ext cx="2734733" cy="1777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8010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061508" y="274638"/>
            <a:ext cx="7042150" cy="1143000"/>
          </a:xfrm>
        </p:spPr>
        <p:txBody>
          <a:bodyPr/>
          <a:lstStyle/>
          <a:p>
            <a:r>
              <a:rPr lang="en-US" dirty="0"/>
              <a:t>Interaction Design VS Interface Design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fld id="{1114B094-0EA0-934E-9DDF-468224908F38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69335" y="2587467"/>
            <a:ext cx="4301067" cy="313932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 algn="just">
              <a:buFont typeface="Arial"/>
              <a:buChar char="•"/>
            </a:pPr>
            <a:r>
              <a:rPr lang="en-US" dirty="0"/>
              <a:t>Concerned about how the person interacts with what they see on the screen – whether they know what to tap, swipe or click, and whether what happens meets their expectation and moves them closer to their goals.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About figuring out how people need to use what you’re designing, and what cues (cause &amp; effect) you can give them so they know how to take action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1265632" y="1694406"/>
            <a:ext cx="2006867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Interaction design 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5096931" y="2599598"/>
            <a:ext cx="3793066" cy="258532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/>
              <a:t>The visual styling on the screen. What things look like, how they’re arranged and how they relate to each other visually in terms of hierarchy.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Font choices, color schemes, graphic elements, button and menu styling all fall under the umbrella of interface design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09889" y="1711343"/>
            <a:ext cx="1865527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Interface Design 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186266" y="5933701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dirty="0"/>
              <a:t>Determines what’s on the screen and how people use those elements.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32572" y="5936733"/>
            <a:ext cx="369129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Determines what those elements look like.</a:t>
            </a:r>
          </a:p>
        </p:txBody>
      </p:sp>
      <p:sp>
        <p:nvSpPr>
          <p:cNvPr id="14" name="Left-Right Arrow 13"/>
          <p:cNvSpPr/>
          <p:nvPr/>
        </p:nvSpPr>
        <p:spPr bwMode="auto">
          <a:xfrm>
            <a:off x="4551996" y="3837260"/>
            <a:ext cx="483821" cy="259200"/>
          </a:xfrm>
          <a:prstGeom prst="leftRightArrow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79736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85298B1D-7B3C-CF4D-BCEB-01B18CEDCE18}" type="slidenum">
              <a:rPr lang="en-US" sz="1000"/>
              <a:pPr eaLnBrk="1" hangingPunct="1"/>
              <a:t>22</a:t>
            </a:fld>
            <a:endParaRPr lang="en-US" sz="1000"/>
          </a:p>
        </p:txBody>
      </p:sp>
      <p:sp>
        <p:nvSpPr>
          <p:cNvPr id="63490" name="Text Box 2"/>
          <p:cNvSpPr txBox="1">
            <a:spLocks noChangeArrowheads="1"/>
          </p:cNvSpPr>
          <p:nvPr/>
        </p:nvSpPr>
        <p:spPr bwMode="auto">
          <a:xfrm>
            <a:off x="1719263" y="411163"/>
            <a:ext cx="68135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3200" b="1">
                <a:solidFill>
                  <a:srgbClr val="B40000"/>
                </a:solidFill>
              </a:rPr>
              <a:t>Summary of Main Teaching Points</a:t>
            </a:r>
            <a:endParaRPr lang="en-US" sz="3200">
              <a:solidFill>
                <a:srgbClr val="B40000"/>
              </a:solidFill>
            </a:endParaRPr>
          </a:p>
        </p:txBody>
      </p:sp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685800" y="1757363"/>
            <a:ext cx="7772400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/>
              <a:t>Interaction is the heart of all modern interfaces and is important at many levels from the ordering of screens to the clicking of a button.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0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E8681367-9836-1045-8B94-82636B3862D8}" type="slidenum">
              <a:rPr lang="en-US" sz="1000"/>
              <a:pPr eaLnBrk="1" hangingPunct="1"/>
              <a:t>23</a:t>
            </a:fld>
            <a:endParaRPr lang="en-US" sz="1000"/>
          </a:p>
        </p:txBody>
      </p:sp>
      <p:sp>
        <p:nvSpPr>
          <p:cNvPr id="65538" name="Text Box 2"/>
          <p:cNvSpPr txBox="1">
            <a:spLocks noChangeArrowheads="1"/>
          </p:cNvSpPr>
          <p:nvPr/>
        </p:nvSpPr>
        <p:spPr bwMode="auto">
          <a:xfrm>
            <a:off x="2590800" y="2286000"/>
            <a:ext cx="4968875" cy="155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9600"/>
              <a:t>Q &amp; A</a:t>
            </a:r>
          </a:p>
        </p:txBody>
      </p:sp>
      <p:sp>
        <p:nvSpPr>
          <p:cNvPr id="65539" name="Text Box 3"/>
          <p:cNvSpPr txBox="1">
            <a:spLocks noChangeArrowheads="1"/>
          </p:cNvSpPr>
          <p:nvPr/>
        </p:nvSpPr>
        <p:spPr bwMode="auto">
          <a:xfrm>
            <a:off x="1719263" y="411163"/>
            <a:ext cx="60229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3200" b="1">
                <a:solidFill>
                  <a:srgbClr val="B40000"/>
                </a:solidFill>
              </a:rPr>
              <a:t>Question and Answer Session</a:t>
            </a:r>
            <a:endParaRPr lang="en-US" sz="3200">
              <a:solidFill>
                <a:srgbClr val="B4000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/>
              <a:t>In facilitating effective interaction, we need to think about how best to support the activities users will be doing when using a system, product or services.</a:t>
            </a:r>
          </a:p>
          <a:p>
            <a:pPr marL="0" indent="0">
              <a:buNone/>
            </a:pPr>
            <a:r>
              <a:rPr lang="en-US" sz="1800" b="1" dirty="0"/>
              <a:t> </a:t>
            </a:r>
            <a:endParaRPr lang="en-US" sz="1800" dirty="0"/>
          </a:p>
          <a:p>
            <a:pPr marL="0" indent="0">
              <a:buNone/>
            </a:pPr>
            <a:r>
              <a:rPr lang="en-US" sz="1800" i="1" dirty="0"/>
              <a:t> </a:t>
            </a:r>
            <a:endParaRPr lang="en-US" sz="1800" dirty="0"/>
          </a:p>
          <a:p>
            <a:pPr marL="0" lvl="0" indent="0">
              <a:buNone/>
            </a:pPr>
            <a:r>
              <a:rPr lang="en-US" sz="1800" dirty="0"/>
              <a:t>A) Identify and describe the </a:t>
            </a:r>
            <a:r>
              <a:rPr lang="en-US" sz="1800" b="1" i="1" dirty="0"/>
              <a:t>FOUR (4)</a:t>
            </a:r>
            <a:r>
              <a:rPr lang="en-US" sz="1800" dirty="0"/>
              <a:t> common types of activities that users are likely to be engaged in when interacting with system with appropriate example?</a:t>
            </a:r>
            <a:r>
              <a:rPr lang="en-US" sz="1800" b="1" dirty="0"/>
              <a:t>	</a:t>
            </a:r>
            <a:endParaRPr lang="en-US" sz="1800" dirty="0"/>
          </a:p>
          <a:p>
            <a:pPr marL="0" indent="0" algn="r">
              <a:buNone/>
            </a:pPr>
            <a:r>
              <a:rPr lang="en-US" sz="1800" b="1" dirty="0"/>
              <a:t>(16 marks)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/>
              <a:t> </a:t>
            </a:r>
            <a:endParaRPr lang="en-US" sz="1800" dirty="0"/>
          </a:p>
          <a:p>
            <a:pPr marL="0" lvl="0" indent="0">
              <a:buNone/>
            </a:pPr>
            <a:r>
              <a:rPr lang="en-US" sz="1800" dirty="0"/>
              <a:t>B) Describe </a:t>
            </a:r>
            <a:r>
              <a:rPr lang="en-US" sz="1800" b="1" i="1" dirty="0"/>
              <a:t>THREE (3)</a:t>
            </a:r>
            <a:r>
              <a:rPr lang="en-US" sz="1800" dirty="0"/>
              <a:t> interaction style, which reflect any of the above interaction types. </a:t>
            </a:r>
          </a:p>
          <a:p>
            <a:pPr marL="0" indent="0" algn="r">
              <a:buNone/>
            </a:pPr>
            <a:r>
              <a:rPr lang="en-US" sz="1800" b="1" dirty="0"/>
              <a:t>(9 marks)</a:t>
            </a:r>
            <a:endParaRPr lang="en-US" sz="1800" dirty="0"/>
          </a:p>
          <a:p>
            <a:pPr marL="0" indent="0" algn="r">
              <a:buNone/>
            </a:pPr>
            <a:r>
              <a:rPr lang="en-US" sz="1800" b="1" dirty="0"/>
              <a:t>	           (Total: 25 marks)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fld id="{505F4CE5-706D-1349-AC32-4D1C5359F04B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259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B89A9B79-3334-D244-8A64-63B8425118AD}" type="slidenum">
              <a:rPr lang="en-US" sz="1000"/>
              <a:pPr eaLnBrk="1" hangingPunct="1"/>
              <a:t>25</a:t>
            </a:fld>
            <a:endParaRPr lang="en-US" sz="1000"/>
          </a:p>
        </p:txBody>
      </p:sp>
      <p:sp>
        <p:nvSpPr>
          <p:cNvPr id="66562" name="Text Box 2"/>
          <p:cNvSpPr txBox="1">
            <a:spLocks noChangeArrowheads="1"/>
          </p:cNvSpPr>
          <p:nvPr/>
        </p:nvSpPr>
        <p:spPr bwMode="auto">
          <a:xfrm>
            <a:off x="457200" y="1652588"/>
            <a:ext cx="5765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2800"/>
              <a:t>Topic and Structure of next session</a:t>
            </a:r>
          </a:p>
        </p:txBody>
      </p:sp>
      <p:sp>
        <p:nvSpPr>
          <p:cNvPr id="66563" name="Text Box 3"/>
          <p:cNvSpPr txBox="1">
            <a:spLocks noChangeArrowheads="1"/>
          </p:cNvSpPr>
          <p:nvPr/>
        </p:nvSpPr>
        <p:spPr bwMode="auto">
          <a:xfrm>
            <a:off x="461963" y="374650"/>
            <a:ext cx="30543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3600" b="1">
                <a:solidFill>
                  <a:srgbClr val="003366"/>
                </a:solidFill>
              </a:rPr>
              <a:t>Next Session</a:t>
            </a:r>
          </a:p>
        </p:txBody>
      </p:sp>
      <p:sp>
        <p:nvSpPr>
          <p:cNvPr id="66564" name="Text Box 4"/>
          <p:cNvSpPr txBox="1">
            <a:spLocks noChangeArrowheads="1"/>
          </p:cNvSpPr>
          <p:nvPr/>
        </p:nvSpPr>
        <p:spPr bwMode="auto">
          <a:xfrm>
            <a:off x="512763" y="2716213"/>
            <a:ext cx="57610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GB" sz="2800" b="1"/>
              <a:t>Usability &amp; Usability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CTI-Template-level-1">
  <a:themeElements>
    <a:clrScheme name="UCTI-Template-level-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UCTI-Template-level-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UCTI-Template-level-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level-1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level-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level-1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level-1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level-1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level-1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level-1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level-1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level-1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level-1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level-1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29E790EA2C72D4B85AD768B6C3A5234" ma:contentTypeVersion="3" ma:contentTypeDescription="Create a new document." ma:contentTypeScope="" ma:versionID="4d2dbe72348f32da934db851ceccfa81">
  <xsd:schema xmlns:xsd="http://www.w3.org/2001/XMLSchema" xmlns:xs="http://www.w3.org/2001/XMLSchema" xmlns:p="http://schemas.microsoft.com/office/2006/metadata/properties" xmlns:ns2="9b3d8dfa-08fc-43f8-95e9-2e9541090cea" targetNamespace="http://schemas.microsoft.com/office/2006/metadata/properties" ma:root="true" ma:fieldsID="7e6912f2426e0a3b3b356832a776d4fa" ns2:_="">
    <xsd:import namespace="9b3d8dfa-08fc-43f8-95e9-2e9541090ce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3d8dfa-08fc-43f8-95e9-2e9541090ce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11B4B70-6034-445B-8C4A-EFD532E5B26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936F1B3-3323-4094-8602-5C0D6B6E01F1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C7F84D0A-A87A-4A71-94FC-01D19DE303DE}"/>
</file>

<file path=docProps/app.xml><?xml version="1.0" encoding="utf-8"?>
<Properties xmlns="http://schemas.openxmlformats.org/officeDocument/2006/extended-properties" xmlns:vt="http://schemas.openxmlformats.org/officeDocument/2006/docPropsVTypes">
  <Template>UCTI-Template-level-1</Template>
  <TotalTime>4363</TotalTime>
  <Pages>11</Pages>
  <Words>1888</Words>
  <Application>Microsoft Office PowerPoint</Application>
  <PresentationFormat>On-screen Show (4:3)</PresentationFormat>
  <Paragraphs>254</Paragraphs>
  <Slides>25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Book Antiqua</vt:lpstr>
      <vt:lpstr>Century Gothic</vt:lpstr>
      <vt:lpstr>Monotype Sorts</vt:lpstr>
      <vt:lpstr>Tahoma</vt:lpstr>
      <vt:lpstr>UCTI-Template-level-1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Interaction Type</vt:lpstr>
      <vt:lpstr>Interaction Type Cont..</vt:lpstr>
      <vt:lpstr>PowerPoint Presentation</vt:lpstr>
      <vt:lpstr>PowerPoint Presentation</vt:lpstr>
      <vt:lpstr>PowerPoint Presentation</vt:lpstr>
      <vt:lpstr>PowerPoint Presentation</vt:lpstr>
      <vt:lpstr>Interaction Design VS Interface Design</vt:lpstr>
      <vt:lpstr>PowerPoint Presentation</vt:lpstr>
      <vt:lpstr>PowerPoint Presentation</vt:lpstr>
      <vt:lpstr>Sample Question</vt:lpstr>
      <vt:lpstr>PowerPoint Presentation</vt:lpstr>
    </vt:vector>
  </TitlesOfParts>
  <Company>APIIT SDN BHD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CT024-3-1 Professional &amp; Enterprise Development</dc:title>
  <dc:subject>MSc</dc:subject>
  <dc:creator>APIIT</dc:creator>
  <cp:keywords/>
  <dc:description/>
  <cp:lastModifiedBy>Naresh Kumar Appadurai</cp:lastModifiedBy>
  <cp:revision>103</cp:revision>
  <cp:lastPrinted>2018-11-30T03:45:37Z</cp:lastPrinted>
  <dcterms:created xsi:type="dcterms:W3CDTF">2006-12-29T06:44:03Z</dcterms:created>
  <dcterms:modified xsi:type="dcterms:W3CDTF">2024-06-04T03:30:22Z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0x010100D29E790EA2C72D4B85AD768B6C3A5234</vt:lpwstr>
  </property>
</Properties>
</file>