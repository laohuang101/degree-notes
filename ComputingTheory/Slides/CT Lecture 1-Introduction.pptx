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9" r:id="rId1"/>
    <p:sldMasterId id="2147483858" r:id="rId2"/>
  </p:sldMasterIdLst>
  <p:notesMasterIdLst>
    <p:notesMasterId r:id="rId23"/>
  </p:notesMasterIdLst>
  <p:handoutMasterIdLst>
    <p:handoutMasterId r:id="rId24"/>
  </p:handoutMasterIdLst>
  <p:sldIdLst>
    <p:sldId id="309" r:id="rId3"/>
    <p:sldId id="257" r:id="rId4"/>
    <p:sldId id="306" r:id="rId5"/>
    <p:sldId id="294" r:id="rId6"/>
    <p:sldId id="295" r:id="rId7"/>
    <p:sldId id="296" r:id="rId8"/>
    <p:sldId id="297" r:id="rId9"/>
    <p:sldId id="263" r:id="rId10"/>
    <p:sldId id="307" r:id="rId11"/>
    <p:sldId id="258" r:id="rId12"/>
    <p:sldId id="308" r:id="rId13"/>
    <p:sldId id="298" r:id="rId14"/>
    <p:sldId id="289" r:id="rId15"/>
    <p:sldId id="299" r:id="rId16"/>
    <p:sldId id="288" r:id="rId17"/>
    <p:sldId id="300" r:id="rId18"/>
    <p:sldId id="304" r:id="rId19"/>
    <p:sldId id="305" r:id="rId20"/>
    <p:sldId id="301" r:id="rId21"/>
    <p:sldId id="290" r:id="rId22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FFB6"/>
    <a:srgbClr val="0000FF"/>
    <a:srgbClr val="8C8C8C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904C2A-FB27-4283-87DC-1FEB0A9EDF30}" v="13" dt="2026-02-23T01:17:25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viewProps" Target="viewProp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microsoft.com/office/2016/11/relationships/changesInfo" Target="changesInfos/changesInfo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handoutMaster" Target="handoutMasters/handoutMaster1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notesMaster" Target="notesMasters/notesMaster1.xml" /><Relationship Id="rId28" Type="http://schemas.openxmlformats.org/officeDocument/2006/relationships/tableStyles" Target="tableStyle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Relationship Id="rId27" Type="http://schemas.openxmlformats.org/officeDocument/2006/relationships/theme" Target="theme/theme1.xml" /><Relationship Id="rId30" Type="http://schemas.microsoft.com/office/2015/10/relationships/revisionInfo" Target="revisionInfo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Illiani Binti Hassan" userId="388f1f68-cffa-4d1d-b286-28c48f091183" providerId="ADAL" clId="{253BA726-51DC-4C68-A385-416E20A8F989}"/>
    <pc:docChg chg="undo custSel addSld modSld sldOrd">
      <pc:chgData name="Farhana Illiani Binti Hassan" userId="388f1f68-cffa-4d1d-b286-28c48f091183" providerId="ADAL" clId="{253BA726-51DC-4C68-A385-416E20A8F989}" dt="2026-02-23T01:17:25.271" v="143"/>
      <pc:docMkLst>
        <pc:docMk/>
      </pc:docMkLst>
      <pc:sldChg chg="delSp modSp">
        <pc:chgData name="Farhana Illiani Binti Hassan" userId="388f1f68-cffa-4d1d-b286-28c48f091183" providerId="ADAL" clId="{253BA726-51DC-4C68-A385-416E20A8F989}" dt="2026-02-23T01:17:25.271" v="143"/>
        <pc:sldMkLst>
          <pc:docMk/>
          <pc:sldMk cId="0" sldId="304"/>
        </pc:sldMkLst>
        <pc:grpChg chg="del mod">
          <ac:chgData name="Farhana Illiani Binti Hassan" userId="388f1f68-cffa-4d1d-b286-28c48f091183" providerId="ADAL" clId="{253BA726-51DC-4C68-A385-416E20A8F989}" dt="2026-02-23T01:17:25.271" v="141"/>
          <ac:grpSpMkLst>
            <pc:docMk/>
            <pc:sldMk cId="0" sldId="304"/>
            <ac:grpSpMk id="5" creationId="{B128CF35-76BD-7F3C-EF76-6BDBA0C837B6}"/>
          </ac:grpSpMkLst>
        </pc:grpChg>
        <pc:grpChg chg="del mod">
          <ac:chgData name="Farhana Illiani Binti Hassan" userId="388f1f68-cffa-4d1d-b286-28c48f091183" providerId="ADAL" clId="{253BA726-51DC-4C68-A385-416E20A8F989}" dt="2026-02-23T01:17:25.271" v="140"/>
          <ac:grpSpMkLst>
            <pc:docMk/>
            <pc:sldMk cId="0" sldId="304"/>
            <ac:grpSpMk id="8" creationId="{DEF4BC21-2625-24F0-EC83-235D4C81F59A}"/>
          </ac:grpSpMkLst>
        </pc:grpChg>
        <pc:inkChg chg="del mod">
          <ac:chgData name="Farhana Illiani Binti Hassan" userId="388f1f68-cffa-4d1d-b286-28c48f091183" providerId="ADAL" clId="{253BA726-51DC-4C68-A385-416E20A8F989}" dt="2026-02-23T01:17:25.271" v="141"/>
          <ac:inkMkLst>
            <pc:docMk/>
            <pc:sldMk cId="0" sldId="304"/>
            <ac:inkMk id="2" creationId="{5862D9D7-B5B7-9310-4627-1212FDA51E5A}"/>
          </ac:inkMkLst>
        </pc:inkChg>
        <pc:inkChg chg="del mod">
          <ac:chgData name="Farhana Illiani Binti Hassan" userId="388f1f68-cffa-4d1d-b286-28c48f091183" providerId="ADAL" clId="{253BA726-51DC-4C68-A385-416E20A8F989}" dt="2026-02-23T01:17:25.271" v="143"/>
          <ac:inkMkLst>
            <pc:docMk/>
            <pc:sldMk cId="0" sldId="304"/>
            <ac:inkMk id="3" creationId="{EE9D8C26-A596-F741-BB3F-11D55C237EC4}"/>
          </ac:inkMkLst>
        </pc:inkChg>
        <pc:inkChg chg="del">
          <ac:chgData name="Farhana Illiani Binti Hassan" userId="388f1f68-cffa-4d1d-b286-28c48f091183" providerId="ADAL" clId="{253BA726-51DC-4C68-A385-416E20A8F989}" dt="2026-02-23T01:17:25.267" v="139"/>
          <ac:inkMkLst>
            <pc:docMk/>
            <pc:sldMk cId="0" sldId="304"/>
            <ac:inkMk id="4" creationId="{5E2B0DF4-2191-7272-6E04-8711A1235950}"/>
          </ac:inkMkLst>
        </pc:inkChg>
        <pc:inkChg chg="del mod">
          <ac:chgData name="Farhana Illiani Binti Hassan" userId="388f1f68-cffa-4d1d-b286-28c48f091183" providerId="ADAL" clId="{253BA726-51DC-4C68-A385-416E20A8F989}" dt="2026-02-23T01:17:25.271" v="142"/>
          <ac:inkMkLst>
            <pc:docMk/>
            <pc:sldMk cId="0" sldId="304"/>
            <ac:inkMk id="6" creationId="{7FDADFF6-FE53-3F13-59F4-CC9171CC27C5}"/>
          </ac:inkMkLst>
        </pc:inkChg>
        <pc:inkChg chg="del">
          <ac:chgData name="Farhana Illiani Binti Hassan" userId="388f1f68-cffa-4d1d-b286-28c48f091183" providerId="ADAL" clId="{253BA726-51DC-4C68-A385-416E20A8F989}" dt="2026-02-23T01:17:25.271" v="140"/>
          <ac:inkMkLst>
            <pc:docMk/>
            <pc:sldMk cId="0" sldId="304"/>
            <ac:inkMk id="7" creationId="{B99552DB-9F36-CC0C-3AB9-2C3C178B99FE}"/>
          </ac:inkMkLst>
        </pc:inkChg>
      </pc:sldChg>
      <pc:sldChg chg="delSp modSp mod">
        <pc:chgData name="Farhana Illiani Binti Hassan" userId="388f1f68-cffa-4d1d-b286-28c48f091183" providerId="ADAL" clId="{253BA726-51DC-4C68-A385-416E20A8F989}" dt="2026-02-23T01:16:46.867" v="138" actId="1076"/>
        <pc:sldMkLst>
          <pc:docMk/>
          <pc:sldMk cId="0" sldId="308"/>
        </pc:sldMkLst>
        <pc:spChg chg="mod">
          <ac:chgData name="Farhana Illiani Binti Hassan" userId="388f1f68-cffa-4d1d-b286-28c48f091183" providerId="ADAL" clId="{253BA726-51DC-4C68-A385-416E20A8F989}" dt="2026-02-23T01:16:46.867" v="138" actId="1076"/>
          <ac:spMkLst>
            <pc:docMk/>
            <pc:sldMk cId="0" sldId="308"/>
            <ac:spMk id="6" creationId="{B9A4E8EE-6C46-A003-1398-7D91179570CF}"/>
          </ac:spMkLst>
        </pc:spChg>
        <pc:spChg chg="del">
          <ac:chgData name="Farhana Illiani Binti Hassan" userId="388f1f68-cffa-4d1d-b286-28c48f091183" providerId="ADAL" clId="{253BA726-51DC-4C68-A385-416E20A8F989}" dt="2026-02-23T01:16:39.747" v="137" actId="478"/>
          <ac:spMkLst>
            <pc:docMk/>
            <pc:sldMk cId="0" sldId="308"/>
            <ac:spMk id="7" creationId="{2B8EB99B-A877-1BDB-B42F-536A8A4E03A9}"/>
          </ac:spMkLst>
        </pc:spChg>
      </pc:sldChg>
      <pc:sldChg chg="addSp delSp modSp new mod ord">
        <pc:chgData name="Farhana Illiani Binti Hassan" userId="388f1f68-cffa-4d1d-b286-28c48f091183" providerId="ADAL" clId="{253BA726-51DC-4C68-A385-416E20A8F989}" dt="2026-02-23T01:15:59.431" v="136"/>
        <pc:sldMkLst>
          <pc:docMk/>
          <pc:sldMk cId="4258145523" sldId="309"/>
        </pc:sldMkLst>
        <pc:spChg chg="add del mod">
          <ac:chgData name="Farhana Illiani Binti Hassan" userId="388f1f68-cffa-4d1d-b286-28c48f091183" providerId="ADAL" clId="{253BA726-51DC-4C68-A385-416E20A8F989}" dt="2026-02-23T01:09:17.404" v="37" actId="20577"/>
          <ac:spMkLst>
            <pc:docMk/>
            <pc:sldMk cId="4258145523" sldId="309"/>
            <ac:spMk id="2" creationId="{EE1431DC-304A-91ED-25AD-4474A488351A}"/>
          </ac:spMkLst>
        </pc:spChg>
        <pc:spChg chg="mod">
          <ac:chgData name="Farhana Illiani Binti Hassan" userId="388f1f68-cffa-4d1d-b286-28c48f091183" providerId="ADAL" clId="{253BA726-51DC-4C68-A385-416E20A8F989}" dt="2026-02-23T01:15:42.845" v="134" actId="20577"/>
          <ac:spMkLst>
            <pc:docMk/>
            <pc:sldMk cId="4258145523" sldId="309"/>
            <ac:spMk id="3" creationId="{1631DB45-24BA-E0CB-7732-F941A3C8A497}"/>
          </ac:spMkLst>
        </pc:spChg>
        <pc:graphicFrameChg chg="add mod modGraphic">
          <ac:chgData name="Farhana Illiani Binti Hassan" userId="388f1f68-cffa-4d1d-b286-28c48f091183" providerId="ADAL" clId="{253BA726-51DC-4C68-A385-416E20A8F989}" dt="2026-02-23T01:15:31.700" v="133" actId="14734"/>
          <ac:graphicFrameMkLst>
            <pc:docMk/>
            <pc:sldMk cId="4258145523" sldId="309"/>
            <ac:graphicFrameMk id="5" creationId="{02D81505-7803-B74B-3C2D-CFE9F4EADE5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BEFA1508-69E6-6D38-F1BB-0EE4E2A834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5587" name="Rectangle 3">
            <a:extLst>
              <a:ext uri="{FF2B5EF4-FFF2-40B4-BE49-F238E27FC236}">
                <a16:creationId xmlns:a16="http://schemas.microsoft.com/office/drawing/2014/main" id="{7ABD7D53-DCB8-4649-154E-A1197FD7868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0"/>
            <a:ext cx="294957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5588" name="Rectangle 4">
            <a:extLst>
              <a:ext uri="{FF2B5EF4-FFF2-40B4-BE49-F238E27FC236}">
                <a16:creationId xmlns:a16="http://schemas.microsoft.com/office/drawing/2014/main" id="{8E909495-80B3-3CE6-A134-58CD3884BAB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0863"/>
            <a:ext cx="294957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5589" name="Rectangle 5">
            <a:extLst>
              <a:ext uri="{FF2B5EF4-FFF2-40B4-BE49-F238E27FC236}">
                <a16:creationId xmlns:a16="http://schemas.microsoft.com/office/drawing/2014/main" id="{70A1CC25-3205-21D3-0268-05F20F6CB21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63"/>
            <a:ext cx="2949575" cy="4968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FA1393C-B60D-4CF3-8299-7CA0748808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58985F03-7005-5898-B8D6-10BD47B07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DAD8B379-A78B-C537-DC72-96A68294BA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7625" y="0"/>
            <a:ext cx="294957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12355C2D-BB2A-278A-4B04-F703131F5A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887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02A58E9F-CE70-8319-A017-44FFA21A9C0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21225"/>
            <a:ext cx="4991100" cy="4471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315BB92B-06AF-5B64-25A3-12C9E76FAB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4957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35722D5A-8090-487C-25C6-5666E1B5A9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625" y="9442450"/>
            <a:ext cx="2949575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19A8338-B13F-432D-A970-FD83E1F615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1EE2B16F-9064-DE4E-E290-82B2E56A2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fld id="{523A5077-DA06-4193-A91B-B1FFA4C69279}" type="slidenum">
              <a:rPr lang="en-US" altLang="en-US" smtClean="0">
                <a:latin typeface="Arial" panose="020B0604020202020204" pitchFamily="34" charset="0"/>
              </a:rPr>
              <a:pPr/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CA16DD3A-D774-B329-3D94-BFD5E02802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F95E6F8-FE20-763C-86C8-151FCD287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BB544D0-9351-7E7A-5D8C-53E768683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en-US"/>
          </a:p>
        </p:txBody>
      </p:sp>
      <p:pic>
        <p:nvPicPr>
          <p:cNvPr id="3" name="Picture 10" descr="APU Logo_Final_Vertical_V1_HR1 copy.png">
            <a:extLst>
              <a:ext uri="{FF2B5EF4-FFF2-40B4-BE49-F238E27FC236}">
                <a16:creationId xmlns:a16="http://schemas.microsoft.com/office/drawing/2014/main" id="{95E438F1-2EB1-E5BC-F454-79C341916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18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F87DDA-60D6-7C8C-9FD6-F0D22ECF3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C5E9305A-4376-E679-CC0D-C16425C83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33D7883C-5F5F-3A60-63EF-DB3EBD926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CX-006-3-3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64E15539-D3F5-BB56-0FDC-5399B3BB5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Object Oriented Methods with UML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88" y="1514475"/>
            <a:ext cx="8704263" cy="453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636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BA0766-9C11-8E3D-864B-AF8B5ACB0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21CAA62F-DA8B-2D1C-CF1B-56F30A32F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13DCA271-08A2-6778-E935-8A7038A03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5886E4E-550F-721E-25D5-3D46985C7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C98C0FF-D0DB-6E66-5FB6-B644C4A9AED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8C5DC2F-3287-C228-C368-499B97EC9FB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-Second level</a:t>
            </a:r>
            <a:b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Third level</a:t>
            </a:r>
            <a:b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Fourth level</a:t>
            </a:r>
            <a:b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423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2731FB03-10FF-E68E-A493-CA01EDE23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418FA54-BEFD-68DF-A529-AABAC70F4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A10CBA8E-CD94-BD5A-4E33-EDFCB841A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8E4FAD4C-A442-5CC4-FEBF-449BBB3A9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CBA90AE-A927-AA0D-7040-833E919B679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6B5A34B-6064-76F6-F788-70BFE4F55ADB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-Second level</a:t>
            </a:r>
            <a:b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Third level</a:t>
            </a:r>
            <a:b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Fourth level</a:t>
            </a:r>
            <a:b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196975"/>
            <a:ext cx="4275138" cy="45354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5488" y="1196975"/>
            <a:ext cx="4276725" cy="453548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6022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EFDEF165-EE93-FEFD-DD91-C282B0C78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545F06AC-92BB-C5F0-7BD4-9D77303C3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D68989E9-8B10-0BC3-B59C-2587B954E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DB7B8-E81E-ADA0-47B6-07B15A27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11D5495-E304-18D8-1F3E-34FE4521AB7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 ____ __ ____  _____ ____ ______</a:t>
            </a:r>
          </a:p>
          <a:p>
            <a:pPr marL="0" lvl="1">
              <a:defRPr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 _____ _____</a:t>
            </a:r>
          </a:p>
          <a:p>
            <a:pPr marL="0" lvl="2">
              <a:buFont typeface="Arial" panose="020B0604020202020204" pitchFamily="34" charset="0"/>
              <a:buChar char="•"/>
              <a:defRPr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  <a:p>
            <a:pPr marL="0" lvl="3">
              <a:defRPr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_____ _____</a:t>
            </a:r>
          </a:p>
          <a:p>
            <a:pPr marL="0" lvl="4">
              <a:defRPr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 ____ _____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E43717BD-02AB-EE7C-038E-ADC59D539A4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marL="0" lvl="4">
              <a:defRPr/>
            </a:pPr>
            <a: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  <a:t>Click to edit Master text styles</a:t>
            </a:r>
            <a:br>
              <a:rPr lang="en-US" altLang="en-US" sz="3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-Second level</a:t>
            </a:r>
            <a:b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Third level</a:t>
            </a:r>
            <a:b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Fourth level</a:t>
            </a:r>
            <a:b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603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D39C403F-E8DA-2581-6FA0-B49F28E9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752E8D66-BA2D-E6B3-2BC5-751EAE8C7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944871D-97E6-40F4-32B7-27ED1E77F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11C1C43-35E2-8E63-84BE-9EA7167F6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9061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E263FB1-11BE-5F8F-DC1E-815823A72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E875FF02-07EE-8085-2AB9-3A596A6AA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90DB3655-3DD7-9AB8-FE00-4452B9441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D52ECDCF-5E79-82FE-76BC-5C18C865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</p:spTree>
    <p:extLst>
      <p:ext uri="{BB962C8B-B14F-4D97-AF65-F5344CB8AC3E}">
        <p14:creationId xmlns:p14="http://schemas.microsoft.com/office/powerpoint/2010/main" val="632466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7500B2C4-C202-946A-AF95-FE06CFFA7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3F3A5A7-5DDA-DA88-2522-67D2512ED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336863DE-7898-57EB-AD28-584013129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13AA2E5F-066C-FB51-1A6E-6132EAC42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514475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088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86B34269-BCFE-F842-E7D8-859D908DC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E7C98727-480A-ED92-8BD6-51F252929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02C1768E-937D-586D-51F1-AFE9A3939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C0DDB3F-9D2D-7951-5035-7F8E48418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6067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DF8E64-A037-A520-A304-76E556DE6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52FDBB03-65B4-095F-CCA5-81DFE62F5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DA7ABC04-9E45-BDF5-2570-99015D5C6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6ADBA0A9-EEBD-E96C-D567-0CD170FB7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46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6A8B83-4FC4-04FC-505F-0C9BCD5AD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38D429AB-8ABF-6B77-2921-D5DD10201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CEDE7F92-B0F8-A2D9-854B-B42479339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6610A89-B921-D61A-74D0-41DEBC0E9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115888"/>
            <a:ext cx="2174875" cy="56165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000" y="115888"/>
            <a:ext cx="6376988" cy="5616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1729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D6CA7E-2E0D-9785-6785-1E2AFE1DE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35BB5355-D1DE-DBBF-EAB4-1AC90A637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138444F0-59C1-CB11-0C1D-5626A95C5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CE00870-6 Real-Time Systems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BAC1EA23-F7C3-8D4A-F4FD-236383BB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Introduction to Real -Time Systems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5888"/>
            <a:ext cx="7793038" cy="882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279400" y="1514475"/>
            <a:ext cx="8704263" cy="45354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197564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E2378C2-3237-B521-0716-9624923B2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C1F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US" altLang="en-US"/>
          </a:p>
        </p:txBody>
      </p:sp>
      <p:pic>
        <p:nvPicPr>
          <p:cNvPr id="3" name="Picture 10" descr="APU Logo_Final_Vertical_V1_HR1 copy.png">
            <a:extLst>
              <a:ext uri="{FF2B5EF4-FFF2-40B4-BE49-F238E27FC236}">
                <a16:creationId xmlns:a16="http://schemas.microsoft.com/office/drawing/2014/main" id="{ACE22EC1-6CBB-4449-E2C5-7FD144692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5698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39801-2372-25FC-F848-81D1DCFC0E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442518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4479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F3350D1-6A7C-29D5-10A1-70C1E32622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4981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7AC197-3A70-9C58-9081-82DA924F61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193800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2E6552-51AA-D7BE-90B8-56181B1E7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586745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5FCDE-F8F5-F8E4-0C5C-F45F1915DF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61555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21548-51E9-19B8-6999-935AE525C1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5467947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FB45A73-C675-D588-0E91-9C75F0363C0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2839061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274638"/>
            <a:ext cx="20574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775" y="274638"/>
            <a:ext cx="6021388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6FBC1-0CB6-ED0C-0639-CA62E29B8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254951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1.jpeg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15.xml" /><Relationship Id="rId7" Type="http://schemas.openxmlformats.org/officeDocument/2006/relationships/slideLayout" Target="../slideLayouts/slideLayout19.xml" /><Relationship Id="rId12" Type="http://schemas.openxmlformats.org/officeDocument/2006/relationships/image" Target="../media/image3.png" /><Relationship Id="rId2" Type="http://schemas.openxmlformats.org/officeDocument/2006/relationships/slideLayout" Target="../slideLayouts/slideLayout14.xml" /><Relationship Id="rId1" Type="http://schemas.openxmlformats.org/officeDocument/2006/relationships/slideLayout" Target="../slideLayouts/slideLayout13.xml" /><Relationship Id="rId6" Type="http://schemas.openxmlformats.org/officeDocument/2006/relationships/slideLayout" Target="../slideLayouts/slideLayout18.xml" /><Relationship Id="rId11" Type="http://schemas.openxmlformats.org/officeDocument/2006/relationships/theme" Target="../theme/theme2.xml" /><Relationship Id="rId5" Type="http://schemas.openxmlformats.org/officeDocument/2006/relationships/slideLayout" Target="../slideLayouts/slideLayout17.xml" /><Relationship Id="rId10" Type="http://schemas.openxmlformats.org/officeDocument/2006/relationships/slideLayout" Target="../slideLayouts/slideLayout22.xml" /><Relationship Id="rId4" Type="http://schemas.openxmlformats.org/officeDocument/2006/relationships/slideLayout" Target="../slideLayouts/slideLayout16.xml" /><Relationship Id="rId9" Type="http://schemas.openxmlformats.org/officeDocument/2006/relationships/slideLayout" Target="../slideLayouts/slideLayout2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51186E7E-B6EE-85A4-009E-717DE9E79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9144000" cy="236538"/>
          </a:xfrm>
          <a:prstGeom prst="rect">
            <a:avLst/>
          </a:prstGeom>
          <a:solidFill>
            <a:srgbClr val="FB6B5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9B339E12-CF76-7A98-5FCC-F5703B4385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pic>
        <p:nvPicPr>
          <p:cNvPr id="1028" name="Picture 10" descr="APU Logo Final-medium.jpg">
            <a:extLst>
              <a:ext uri="{FF2B5EF4-FFF2-40B4-BE49-F238E27FC236}">
                <a16:creationId xmlns:a16="http://schemas.microsoft.com/office/drawing/2014/main" id="{F981CC87-A982-0C88-865C-119329ADEF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7">
            <a:extLst>
              <a:ext uri="{FF2B5EF4-FFF2-40B4-BE49-F238E27FC236}">
                <a16:creationId xmlns:a16="http://schemas.microsoft.com/office/drawing/2014/main" id="{952FD9F5-331A-A870-A2F4-D5BE4D9B5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CX-006-3-3</a:t>
            </a:r>
          </a:p>
        </p:txBody>
      </p:sp>
      <p:sp>
        <p:nvSpPr>
          <p:cNvPr id="1030" name="Rectangle 9">
            <a:extLst>
              <a:ext uri="{FF2B5EF4-FFF2-40B4-BE49-F238E27FC236}">
                <a16:creationId xmlns:a16="http://schemas.microsoft.com/office/drawing/2014/main" id="{7DBB1332-019B-A01B-4F0F-0CBFD795C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endParaRPr lang="en-GB" altLang="en-US" sz="800">
              <a:latin typeface="Calibri" panose="020F0502020204030204" pitchFamily="34" charset="0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847F62E1-E102-29F5-F409-55D5291DE47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09988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80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Computing Theory            Dr.A.Bazila Banu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96" r:id="rId1"/>
    <p:sldLayoutId id="2147484497" r:id="rId2"/>
    <p:sldLayoutId id="2147484498" r:id="rId3"/>
    <p:sldLayoutId id="2147484499" r:id="rId4"/>
    <p:sldLayoutId id="2147484500" r:id="rId5"/>
    <p:sldLayoutId id="2147484501" r:id="rId6"/>
    <p:sldLayoutId id="2147484502" r:id="rId7"/>
    <p:sldLayoutId id="2147484503" r:id="rId8"/>
    <p:sldLayoutId id="2147484504" r:id="rId9"/>
    <p:sldLayoutId id="2147484505" r:id="rId10"/>
    <p:sldLayoutId id="2147484506" r:id="rId11"/>
    <p:sldLayoutId id="2147484507" r:id="rId12"/>
  </p:sldLayoutIdLst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ucti_globe1_transparent_small">
            <a:extLst>
              <a:ext uri="{FF2B5EF4-FFF2-40B4-BE49-F238E27FC236}">
                <a16:creationId xmlns:a16="http://schemas.microsoft.com/office/drawing/2014/main" id="{7854DAA4-D94F-0113-1EBE-45573A7C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ADDA874D-180B-1E72-D642-C067DE131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C1FE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endParaRPr lang="en-GB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F9E44E0-F070-E4BB-242E-6B7A1B8BC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3" name="Rectangle 6">
            <a:extLst>
              <a:ext uri="{FF2B5EF4-FFF2-40B4-BE49-F238E27FC236}">
                <a16:creationId xmlns:a16="http://schemas.microsoft.com/office/drawing/2014/main" id="{70F73A1C-76A0-1207-D874-36D8AC0E6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593C34FD-9C03-DFE1-10F5-ED88524FA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altLang="en-US" sz="800">
                <a:latin typeface="Calibri" panose="020F0502020204030204" pitchFamily="34" charset="0"/>
              </a:rPr>
              <a:t>Module Code and Module Title</a:t>
            </a:r>
          </a:p>
        </p:txBody>
      </p:sp>
      <p:sp>
        <p:nvSpPr>
          <p:cNvPr id="86024" name="Rectangle 8">
            <a:extLst>
              <a:ext uri="{FF2B5EF4-FFF2-40B4-BE49-F238E27FC236}">
                <a16:creationId xmlns:a16="http://schemas.microsoft.com/office/drawing/2014/main" id="{7554E7EC-26DD-2E32-68A3-DC0E877921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Computing Theory            Dr.A.Bazila Banu</a:t>
            </a:r>
          </a:p>
        </p:txBody>
      </p:sp>
      <p:sp>
        <p:nvSpPr>
          <p:cNvPr id="2056" name="Rectangle 9">
            <a:extLst>
              <a:ext uri="{FF2B5EF4-FFF2-40B4-BE49-F238E27FC236}">
                <a16:creationId xmlns:a16="http://schemas.microsoft.com/office/drawing/2014/main" id="{59D910B4-B562-E73D-A90B-875059C3E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GB" altLang="en-US" sz="800">
                <a:latin typeface="Calibri" panose="020F0502020204030204" pitchFamily="34" charset="0"/>
              </a:rPr>
              <a:t>Title of Slides</a:t>
            </a:r>
          </a:p>
        </p:txBody>
      </p:sp>
      <p:pic>
        <p:nvPicPr>
          <p:cNvPr id="2057" name="Picture 10" descr="APU Logo Final-medium.jpg">
            <a:extLst>
              <a:ext uri="{FF2B5EF4-FFF2-40B4-BE49-F238E27FC236}">
                <a16:creationId xmlns:a16="http://schemas.microsoft.com/office/drawing/2014/main" id="{26A71176-179E-CE9C-92AD-476DFC8EEA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08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495" r:id="rId9"/>
    <p:sldLayoutId id="2147484516" r:id="rId10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3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cglab.ca/~michiel/TheoryOfComputation/TheoryOfComputation.pdf" TargetMode="External" /><Relationship Id="rId1" Type="http://schemas.openxmlformats.org/officeDocument/2006/relationships/slideLayout" Target="../slideLayouts/slideLayout1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V57Yv8BXBc" TargetMode="External" /><Relationship Id="rId1" Type="http://schemas.openxmlformats.org/officeDocument/2006/relationships/slideLayout" Target="../slideLayouts/slideLayout1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4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 /><Relationship Id="rId3" Type="http://schemas.openxmlformats.org/officeDocument/2006/relationships/image" Target="../media/image7.png" /><Relationship Id="rId7" Type="http://schemas.openxmlformats.org/officeDocument/2006/relationships/image" Target="../media/image11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4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10" Type="http://schemas.openxmlformats.org/officeDocument/2006/relationships/image" Target="../media/image14.png" /><Relationship Id="rId4" Type="http://schemas.openxmlformats.org/officeDocument/2006/relationships/image" Target="../media/image8.png" /><Relationship Id="rId9" Type="http://schemas.openxmlformats.org/officeDocument/2006/relationships/image" Target="../media/image13.png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4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31DC-304A-91ED-25AD-4474A48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Teams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1DB45-24BA-E0CB-7732-F941A3C8A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LECTURE:   </a:t>
            </a:r>
            <a:r>
              <a:rPr lang="en-MY" b="1" dirty="0"/>
              <a:t>6ij3j7d</a:t>
            </a:r>
          </a:p>
          <a:p>
            <a:r>
              <a:rPr lang="en-MY" dirty="0"/>
              <a:t>TUTORIAL: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A2E3F-A004-E300-76B5-B5AC52FFB7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Computing Theory            Dr.A.Bazila Banu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D81505-7803-B74B-3C2D-CFE9F4EAD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978647"/>
              </p:ext>
            </p:extLst>
          </p:nvPr>
        </p:nvGraphicFramePr>
        <p:xfrm>
          <a:off x="2327049" y="3029858"/>
          <a:ext cx="4890180" cy="31089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80541">
                  <a:extLst>
                    <a:ext uri="{9D8B030D-6E8A-4147-A177-3AD203B41FA5}">
                      <a16:colId xmlns:a16="http://schemas.microsoft.com/office/drawing/2014/main" val="2483877878"/>
                    </a:ext>
                  </a:extLst>
                </a:gridCol>
                <a:gridCol w="3509639">
                  <a:extLst>
                    <a:ext uri="{9D8B030D-6E8A-4147-A177-3AD203B41FA5}">
                      <a16:colId xmlns:a16="http://schemas.microsoft.com/office/drawing/2014/main" val="38276045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MY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224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2800" dirty="0"/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800" b="1" dirty="0"/>
                        <a:t>  2qrx5yz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5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2800" dirty="0"/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800" b="1" dirty="0"/>
                        <a:t>  07ws5v8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37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2800" dirty="0"/>
                        <a:t>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800" b="1" dirty="0"/>
                        <a:t>  x45t2o3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078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2800" dirty="0"/>
                        <a:t>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800" b="1" dirty="0"/>
                        <a:t>  wpoz76v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271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2800" dirty="0"/>
                        <a:t>T5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800" b="1" dirty="0"/>
                        <a:t>  r6r9itv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866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145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1AA936EF-47A6-A1EA-D3EF-03050FC2A4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42988" y="549275"/>
            <a:ext cx="7772400" cy="2547938"/>
          </a:xfrm>
        </p:spPr>
        <p:txBody>
          <a:bodyPr/>
          <a:lstStyle/>
          <a:p>
            <a:pPr algn="r" eaLnBrk="1" hangingPunct="1"/>
            <a:r>
              <a:rPr lang="en-US" altLang="en-US">
                <a:cs typeface="Arial" panose="020B0604020202020204" pitchFamily="34" charset="0"/>
              </a:rPr>
              <a:t>			Computing Theory</a:t>
            </a:r>
            <a:endParaRPr lang="en-US" altLang="en-US" sz="2400">
              <a:cs typeface="Arial" panose="020B0604020202020204" pitchFamily="34" charset="0"/>
            </a:endParaRPr>
          </a:p>
        </p:txBody>
      </p:sp>
      <p:sp>
        <p:nvSpPr>
          <p:cNvPr id="26627" name="Rectangle 5">
            <a:extLst>
              <a:ext uri="{FF2B5EF4-FFF2-40B4-BE49-F238E27FC236}">
                <a16:creationId xmlns:a16="http://schemas.microsoft.com/office/drawing/2014/main" id="{6B78F8A1-F1B2-66C9-E644-B87A1FB788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47813" y="3500438"/>
            <a:ext cx="7596187" cy="2592387"/>
          </a:xfrm>
        </p:spPr>
        <p:txBody>
          <a:bodyPr/>
          <a:lstStyle/>
          <a:p>
            <a:pPr eaLnBrk="1" hangingPunct="1"/>
            <a:r>
              <a:rPr lang="en-US" altLang="en-US"/>
              <a:t>Lecture 1: Subject Briefing &amp; Introduction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8FBBAE91-C588-259B-5741-B2FB692D6F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7363" y="1773238"/>
            <a:ext cx="8229600" cy="4449762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en-US" sz="2600"/>
              <a:t>Lecturer Name: </a:t>
            </a:r>
            <a:r>
              <a:rPr lang="en-US" altLang="en-US" sz="2600" err="1"/>
              <a:t>Ms.Farhana</a:t>
            </a:r>
            <a:r>
              <a:rPr lang="en-US" altLang="en-US" sz="2600"/>
              <a:t> Illiani </a:t>
            </a:r>
            <a:r>
              <a:rPr lang="en-US" altLang="en-US" sz="2600" err="1"/>
              <a:t>bt</a:t>
            </a:r>
            <a:r>
              <a:rPr lang="en-US" altLang="en-US" sz="2600"/>
              <a:t> Hassan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600"/>
              <a:t>Email: farhana.illiani@apu.edu.my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600"/>
              <a:t>Office: School Of Computing, Block C, Level 5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 sz="2600"/>
              <a:t>Communication: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/>
              <a:t>Teams chat (online)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/>
              <a:t>Staff room @level 5 (physical)</a:t>
            </a:r>
          </a:p>
          <a:p>
            <a:pPr>
              <a:lnSpc>
                <a:spcPct val="150000"/>
              </a:lnSpc>
            </a:pPr>
            <a:endParaRPr lang="en-MY" altLang="en-US"/>
          </a:p>
        </p:txBody>
      </p:sp>
      <p:sp>
        <p:nvSpPr>
          <p:cNvPr id="28675" name="Footer Placeholder 3">
            <a:extLst>
              <a:ext uri="{FF2B5EF4-FFF2-40B4-BE49-F238E27FC236}">
                <a16:creationId xmlns:a16="http://schemas.microsoft.com/office/drawing/2014/main" id="{A10C1CAB-BE8D-28B7-97F5-27BFEA5F2B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</a:rPr>
              <a:t>Computing Theory            Dr.A.Bazila Banu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E46158-B8FC-07A0-0875-1CC59132DEFD}"/>
              </a:ext>
            </a:extLst>
          </p:cNvPr>
          <p:cNvSpPr txBox="1">
            <a:spLocks/>
          </p:cNvSpPr>
          <p:nvPr/>
        </p:nvSpPr>
        <p:spPr bwMode="auto">
          <a:xfrm>
            <a:off x="654050" y="354013"/>
            <a:ext cx="704215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kern="0">
                <a:solidFill>
                  <a:schemeClr val="tx1"/>
                </a:solidFill>
              </a:rPr>
              <a:t>Lecturer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E67B33B-0FCE-F033-03DA-69DDA5B7D2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Resources 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5E939C9-B009-8147-E891-E616549BA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417638"/>
            <a:ext cx="8229600" cy="4606925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en-US" sz="2400"/>
              <a:t>Main Reference</a:t>
            </a:r>
          </a:p>
          <a:p>
            <a:pPr eaLnBrk="1" hangingPunct="1">
              <a:defRPr/>
            </a:pPr>
            <a:r>
              <a:rPr lang="en-US" sz="1800" err="1">
                <a:solidFill>
                  <a:srgbClr val="000000"/>
                </a:solidFill>
                <a:latin typeface="+mj-lt"/>
              </a:rPr>
              <a:t>Homenda</a:t>
            </a:r>
            <a:r>
              <a:rPr lang="en-US" sz="1800">
                <a:solidFill>
                  <a:srgbClr val="000000"/>
                </a:solidFill>
                <a:latin typeface="+mj-lt"/>
              </a:rPr>
              <a:t>, W., &amp; </a:t>
            </a:r>
            <a:r>
              <a:rPr lang="en-US" sz="1800" err="1">
                <a:solidFill>
                  <a:srgbClr val="000000"/>
                </a:solidFill>
                <a:latin typeface="+mj-lt"/>
              </a:rPr>
              <a:t>Pedrycz</a:t>
            </a:r>
            <a:r>
              <a:rPr lang="en-US" sz="1800">
                <a:solidFill>
                  <a:srgbClr val="000000"/>
                </a:solidFill>
                <a:latin typeface="+mj-lt"/>
              </a:rPr>
              <a:t>, W. (2022). Automata Theory and Formal Languages. De Gruyter. (ISBN: 9783110752274)</a:t>
            </a:r>
          </a:p>
          <a:p>
            <a:pPr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+mj-lt"/>
              </a:rPr>
              <a:t>Rich, E. (2019). Automata, computability and complexity : theory and applications. (ISBN:9780132288064)	</a:t>
            </a:r>
          </a:p>
          <a:p>
            <a:pPr eaLnBrk="1" hangingPunct="1">
              <a:defRPr/>
            </a:pPr>
            <a:r>
              <a:rPr lang="en-GB" altLang="en-US" sz="1800">
                <a:latin typeface="+mj-lt"/>
                <a:cs typeface="Arial" panose="020B0604020202020204" pitchFamily="34" charset="0"/>
              </a:rPr>
              <a:t>Maheshwari, A., </a:t>
            </a:r>
            <a:r>
              <a:rPr lang="en-GB" altLang="en-US" sz="1800" err="1">
                <a:latin typeface="+mj-lt"/>
                <a:cs typeface="Arial" panose="020B0604020202020204" pitchFamily="34" charset="0"/>
              </a:rPr>
              <a:t>Smid</a:t>
            </a:r>
            <a:r>
              <a:rPr lang="en-GB" altLang="en-US" sz="1800">
                <a:latin typeface="+mj-lt"/>
                <a:cs typeface="Arial" panose="020B0604020202020204" pitchFamily="34" charset="0"/>
              </a:rPr>
              <a:t>, M. (2014), Introduction to Theory of Computation. Carleton University, </a:t>
            </a:r>
            <a:r>
              <a:rPr lang="en-GB" altLang="en-US" sz="1800" err="1">
                <a:latin typeface="+mj-lt"/>
                <a:cs typeface="Arial" panose="020B0604020202020204" pitchFamily="34" charset="0"/>
              </a:rPr>
              <a:t>Ottowa</a:t>
            </a:r>
            <a:r>
              <a:rPr lang="en-GB" altLang="en-US" sz="1800">
                <a:latin typeface="+mj-lt"/>
                <a:cs typeface="Arial" panose="020B0604020202020204" pitchFamily="34" charset="0"/>
              </a:rPr>
              <a:t> CA. e-book available at: </a:t>
            </a:r>
            <a:r>
              <a:rPr lang="en-GB" altLang="en-US" sz="1800">
                <a:latin typeface="+mj-lt"/>
                <a:cs typeface="Arial" panose="020B0604020202020204" pitchFamily="34" charset="0"/>
                <a:hlinkClick r:id="rId2"/>
              </a:rPr>
              <a:t>http://cglab.ca/~michiel/TheoryOfComputation/TheoryOfComputation.pdf</a:t>
            </a:r>
            <a:endParaRPr lang="en-GB" altLang="en-US" sz="1800">
              <a:latin typeface="+mj-lt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GB" altLang="en-US" sz="1800" err="1">
                <a:latin typeface="+mj-lt"/>
                <a:cs typeface="Arial" panose="020B0604020202020204" pitchFamily="34" charset="0"/>
              </a:rPr>
              <a:t>Sipser</a:t>
            </a:r>
            <a:r>
              <a:rPr lang="en-GB" altLang="en-US" sz="1800">
                <a:latin typeface="+mj-lt"/>
                <a:cs typeface="Arial" panose="020B0604020202020204" pitchFamily="34" charset="0"/>
              </a:rPr>
              <a:t>, M. (2012). Introduction to the Theory of Computation (3rd Edition). Course Technology (ISBN: 978-1133187790)</a:t>
            </a:r>
            <a:endParaRPr lang="en-US" altLang="en-US" sz="1800">
              <a:latin typeface="+mj-lt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en-US" sz="1800"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US" sz="18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eaLnBrk="1" hangingPunct="1">
              <a:defRPr/>
            </a:pPr>
            <a:endParaRPr lang="en-GB" altLang="en-US" sz="1800">
              <a:cs typeface="Arial" panose="020B0604020202020204" pitchFamily="34" charset="0"/>
            </a:endParaRPr>
          </a:p>
        </p:txBody>
      </p:sp>
      <p:sp>
        <p:nvSpPr>
          <p:cNvPr id="29700" name="Footer Placeholder 1">
            <a:extLst>
              <a:ext uri="{FF2B5EF4-FFF2-40B4-BE49-F238E27FC236}">
                <a16:creationId xmlns:a16="http://schemas.microsoft.com/office/drawing/2014/main" id="{42EA71CE-DD9D-711B-8E7D-A55FEF1895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859338" y="6623050"/>
            <a:ext cx="2895600" cy="234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F954C92F-1B6A-3539-1FA1-367CAC7F7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Objective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3BF093FF-C1CC-1B4D-E98D-A75F81006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484313"/>
            <a:ext cx="8648700" cy="456565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1. Contribute to the achievement of the learning outcomes specified for the student’s award at Level 2.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2.  Meet the prerequisite requirements of modules at Level 3 of study.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3. </a:t>
            </a:r>
            <a:r>
              <a:rPr lang="en-US" altLang="en-US" sz="1800" b="1">
                <a:cs typeface="Arial" panose="020B0604020202020204" pitchFamily="34" charset="0"/>
              </a:rPr>
              <a:t>Provide an introduction to the study of formal models of computation.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4. </a:t>
            </a:r>
            <a:r>
              <a:rPr lang="en-GB" altLang="en-US" sz="1800">
                <a:cs typeface="Arial" panose="020B0604020202020204" pitchFamily="34" charset="0"/>
              </a:rPr>
              <a:t>Introduce and begin to develop student skills in relation to the use of </a:t>
            </a:r>
            <a:r>
              <a:rPr lang="en-US" altLang="en-US" sz="1800" b="1">
                <a:cs typeface="Arial" panose="020B0604020202020204" pitchFamily="34" charset="0"/>
              </a:rPr>
              <a:t>automata, regular expressions, and context-free grammars</a:t>
            </a:r>
            <a:r>
              <a:rPr lang="en-US" altLang="en-US" sz="1800"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5. </a:t>
            </a:r>
            <a:r>
              <a:rPr lang="en-GB" altLang="en-US" sz="1800">
                <a:cs typeface="Arial" panose="020B0604020202020204" pitchFamily="34" charset="0"/>
              </a:rPr>
              <a:t>Introduce and begin to develop lifelong learning skills of independent learning and study in relation to </a:t>
            </a:r>
            <a:r>
              <a:rPr lang="en-US" altLang="en-US" sz="1800">
                <a:cs typeface="Arial" panose="020B0604020202020204" pitchFamily="34" charset="0"/>
              </a:rPr>
              <a:t>computational capabilities and their limitations.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6. </a:t>
            </a:r>
            <a:r>
              <a:rPr lang="en-GB" altLang="en-US" sz="1800">
                <a:cs typeface="Arial" panose="020B0604020202020204" pitchFamily="34" charset="0"/>
              </a:rPr>
              <a:t>Introduce students to the </a:t>
            </a:r>
            <a:r>
              <a:rPr lang="en-GB" altLang="en-US" sz="1800" b="1">
                <a:cs typeface="Arial" panose="020B0604020202020204" pitchFamily="34" charset="0"/>
              </a:rPr>
              <a:t>knowledge, skills and techniques relevant to the theory of computation and </a:t>
            </a:r>
            <a:r>
              <a:rPr lang="en-US" altLang="en-US" sz="1800" b="1">
                <a:cs typeface="Arial" panose="020B0604020202020204" pitchFamily="34" charset="0"/>
              </a:rPr>
              <a:t>complexity studies</a:t>
            </a:r>
            <a:r>
              <a:rPr lang="en-US" altLang="en-US" sz="1800">
                <a:cs typeface="Arial" panose="020B0604020202020204" pitchFamily="34" charset="0"/>
              </a:rPr>
              <a:t>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7. Enable students to develop their ability to: 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	Critically analyze problems and understand theoretical foundations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	Design solution methods and understand their limitations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cs typeface="Arial" panose="020B0604020202020204" pitchFamily="34" charset="0"/>
              </a:rPr>
              <a:t>	Learn from varied sources</a:t>
            </a:r>
          </a:p>
        </p:txBody>
      </p:sp>
      <p:sp>
        <p:nvSpPr>
          <p:cNvPr id="30724" name="Footer Placeholder 1">
            <a:extLst>
              <a:ext uri="{FF2B5EF4-FFF2-40B4-BE49-F238E27FC236}">
                <a16:creationId xmlns:a16="http://schemas.microsoft.com/office/drawing/2014/main" id="{892CD660-ABD0-FEB1-D028-AF030B322A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E809E065-32A3-5E28-85FA-A77AFD5C9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Learning Outcomes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6D4A572C-99D0-175E-005F-8906113133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GB" altLang="en-US" sz="2000">
                <a:cs typeface="Arial" panose="020B0604020202020204" pitchFamily="34" charset="0"/>
              </a:rPr>
              <a:t>Design automata and generate regular expressions for specified languages. 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2000">
                <a:cs typeface="Arial" panose="020B0604020202020204" pitchFamily="34" charset="0"/>
              </a:rPr>
              <a:t>Design and analyse context-free grammars for specific syntactic rules. 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2000">
                <a:cs typeface="Arial" panose="020B0604020202020204" pitchFamily="34" charset="0"/>
              </a:rPr>
              <a:t>Describe and Design Turing machines to accomplish specified computations. </a:t>
            </a:r>
          </a:p>
          <a:p>
            <a:pPr eaLnBrk="1" hangingPunct="1">
              <a:lnSpc>
                <a:spcPct val="150000"/>
              </a:lnSpc>
            </a:pPr>
            <a:r>
              <a:rPr lang="en-GB" altLang="en-US" sz="2000">
                <a:cs typeface="Arial" panose="020B0604020202020204" pitchFamily="34" charset="0"/>
              </a:rPr>
              <a:t>Explain and discuss complexity and decidability of problems. </a:t>
            </a:r>
            <a:endParaRPr lang="en-US" altLang="en-US" sz="2000">
              <a:cs typeface="Arial" panose="020B0604020202020204" pitchFamily="34" charset="0"/>
            </a:endParaRPr>
          </a:p>
        </p:txBody>
      </p:sp>
      <p:sp>
        <p:nvSpPr>
          <p:cNvPr id="31748" name="Footer Placeholder 1">
            <a:extLst>
              <a:ext uri="{FF2B5EF4-FFF2-40B4-BE49-F238E27FC236}">
                <a16:creationId xmlns:a16="http://schemas.microsoft.com/office/drawing/2014/main" id="{E4572779-11C4-3417-FD80-3B48355338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C949D3FF-BDED-B487-A029-1C3810DE7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Assesment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AB962132-7566-C5DB-0ADD-44E7A7BC88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en-US" altLang="en-US" sz="4000"/>
              <a:t>Group Assignment :40%</a:t>
            </a:r>
          </a:p>
          <a:p>
            <a:pPr eaLnBrk="1" hangingPunct="1">
              <a:lnSpc>
                <a:spcPct val="250000"/>
              </a:lnSpc>
            </a:pPr>
            <a:r>
              <a:rPr lang="en-US" altLang="en-US" sz="4000"/>
              <a:t>Final Exam :60%</a:t>
            </a:r>
          </a:p>
        </p:txBody>
      </p:sp>
      <p:sp>
        <p:nvSpPr>
          <p:cNvPr id="32772" name="Footer Placeholder 1">
            <a:extLst>
              <a:ext uri="{FF2B5EF4-FFF2-40B4-BE49-F238E27FC236}">
                <a16:creationId xmlns:a16="http://schemas.microsoft.com/office/drawing/2014/main" id="{46D0CB3D-9C00-E5E1-0DD3-C849A9047D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4ACADC24-6015-DA34-2763-6F758402D6B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</a:rPr>
              <a:t>Slide </a:t>
            </a:r>
            <a:fld id="{94B232D4-94A1-43B1-BF9F-C80EDD1F2489}" type="slidenum">
              <a:rPr lang="en-GB" altLang="en-US" sz="800" smtClean="0">
                <a:latin typeface="Calibri" panose="020F050202020403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r>
              <a:rPr lang="en-GB" altLang="en-US" sz="800">
                <a:latin typeface="Calibri" panose="020F0502020204030204" pitchFamily="34" charset="0"/>
              </a:rPr>
              <a:t> of 21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02662BC-2129-43C3-FB9C-E13A8A42A13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074863" y="471488"/>
            <a:ext cx="4672012" cy="584200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3200">
                <a:latin typeface="+mj-lt"/>
              </a:rPr>
              <a:t>What is expected of you 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C5EFBFDE-A211-DB68-B6D6-D95476534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1322388"/>
            <a:ext cx="8559800" cy="3800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800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 eaLnBrk="1" hangingPunct="1">
              <a:spcBef>
                <a:spcPts val="600"/>
              </a:spcBef>
              <a:buClr>
                <a:srgbClr val="FF0000"/>
              </a:buClr>
              <a:buFontTx/>
              <a:buNone/>
              <a:defRPr/>
            </a:pPr>
            <a:r>
              <a:rPr lang="en-US" altLang="en-US" sz="2400" b="1" kern="0">
                <a:latin typeface="+mn-lt"/>
              </a:rPr>
              <a:t>You should abide to all the rules &amp; regulation of APU</a:t>
            </a:r>
          </a:p>
          <a:p>
            <a:pPr lvl="1" eaLnBrk="1" hangingPunct="1">
              <a:spcBef>
                <a:spcPts val="600"/>
              </a:spcBef>
              <a:buClr>
                <a:srgbClr val="3366FF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kern="0">
                <a:latin typeface="+mn-lt"/>
              </a:rPr>
              <a:t>Proper attire.</a:t>
            </a:r>
          </a:p>
          <a:p>
            <a:pPr lvl="1" eaLnBrk="1" hangingPunct="1">
              <a:spcBef>
                <a:spcPts val="600"/>
              </a:spcBef>
              <a:buClr>
                <a:srgbClr val="3366FF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kern="0">
                <a:latin typeface="+mn-lt"/>
              </a:rPr>
              <a:t>No speaking of dialects.</a:t>
            </a:r>
          </a:p>
          <a:p>
            <a:pPr lvl="1" algn="just" eaLnBrk="1" hangingPunct="1">
              <a:spcBef>
                <a:spcPts val="600"/>
              </a:spcBef>
              <a:buClr>
                <a:srgbClr val="3366FF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kern="0">
                <a:latin typeface="+mn-lt"/>
              </a:rPr>
              <a:t>Attendance is compulsory and valid medical certificates or letters from parents /guardians must support any absence from class.</a:t>
            </a:r>
          </a:p>
          <a:p>
            <a:pPr lvl="1" eaLnBrk="1" hangingPunct="1">
              <a:spcBef>
                <a:spcPts val="600"/>
              </a:spcBef>
              <a:buClr>
                <a:srgbClr val="3366FF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kern="0">
                <a:latin typeface="+mn-lt"/>
              </a:rPr>
              <a:t>Three lateness will be equal to one absence.</a:t>
            </a:r>
          </a:p>
          <a:p>
            <a:pPr lvl="1" algn="just" eaLnBrk="1" hangingPunct="1">
              <a:spcBef>
                <a:spcPts val="600"/>
              </a:spcBef>
              <a:buClr>
                <a:srgbClr val="3366FF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kern="0">
                <a:latin typeface="+mn-lt"/>
              </a:rPr>
              <a:t>All pagers and handphones should be turned off during lectures.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9848BDAE-E209-C3BC-2296-0BDD3A1414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229600" cy="413385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US" altLang="en-US" sz="4800" b="1">
                <a:highlight>
                  <a:srgbClr val="FFFF00"/>
                </a:highlight>
              </a:rPr>
              <a:t>RESPECT</a:t>
            </a:r>
          </a:p>
          <a:p>
            <a:pPr marL="0" indent="0" algn="ctr">
              <a:buFontTx/>
              <a:buNone/>
              <a:defRPr/>
            </a:pPr>
            <a:endParaRPr lang="en-US" altLang="en-US" sz="4800" b="1"/>
          </a:p>
          <a:p>
            <a:pPr marL="0" indent="0" algn="ctr">
              <a:buFontTx/>
              <a:buNone/>
              <a:defRPr/>
            </a:pPr>
            <a:r>
              <a:rPr lang="en-US" altLang="en-US" sz="4800" b="1">
                <a:highlight>
                  <a:srgbClr val="FFFF00"/>
                </a:highlight>
              </a:rPr>
              <a:t>PUNCTUAL</a:t>
            </a:r>
          </a:p>
          <a:p>
            <a:pPr marL="0" indent="0" algn="ctr">
              <a:buFontTx/>
              <a:buNone/>
              <a:defRPr/>
            </a:pPr>
            <a:endParaRPr lang="en-US" altLang="en-US" sz="4800" b="1"/>
          </a:p>
          <a:p>
            <a:pPr marL="0" indent="0" algn="ctr">
              <a:buFontTx/>
              <a:buNone/>
              <a:defRPr/>
            </a:pPr>
            <a:r>
              <a:rPr lang="en-US" altLang="en-US" sz="4800" b="1">
                <a:highlight>
                  <a:srgbClr val="FFFF00"/>
                </a:highlight>
              </a:rPr>
              <a:t>COMMITMENT</a:t>
            </a:r>
            <a:endParaRPr lang="en-MY" altLang="en-US" sz="4800" b="1">
              <a:highlight>
                <a:srgbClr val="FFFF00"/>
              </a:highlight>
            </a:endParaRPr>
          </a:p>
        </p:txBody>
      </p:sp>
      <p:sp>
        <p:nvSpPr>
          <p:cNvPr id="34819" name="Footer Placeholder 3">
            <a:extLst>
              <a:ext uri="{FF2B5EF4-FFF2-40B4-BE49-F238E27FC236}">
                <a16:creationId xmlns:a16="http://schemas.microsoft.com/office/drawing/2014/main" id="{EAD4CB5E-7D5C-10B3-5D40-B5CCF764AD2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Rectangle 4">
            <a:extLst>
              <a:ext uri="{FF2B5EF4-FFF2-40B4-BE49-F238E27FC236}">
                <a16:creationId xmlns:a16="http://schemas.microsoft.com/office/drawing/2014/main" id="{A420238A-2E0E-44C1-5818-3958BA8BB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we need Computing Theory</a:t>
            </a:r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A277E740-9287-0D61-70AB-E9E06E7143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sz="2400">
                <a:cs typeface="Arial" pitchFamily="34" charset="0"/>
              </a:rPr>
              <a:t> To understand the nature of </a:t>
            </a:r>
            <a:r>
              <a:rPr lang="en-US" sz="2400" i="1">
                <a:cs typeface="Arial" pitchFamily="34" charset="0"/>
              </a:rPr>
              <a:t>efficient computation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i="1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>
                <a:cs typeface="Arial" pitchFamily="34" charset="0"/>
              </a:rPr>
              <a:t>The Theory of Computation provides a new viewpoint on old phenomena. </a:t>
            </a:r>
          </a:p>
          <a:p>
            <a:pPr marL="457200" lvl="1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000">
              <a:cs typeface="Arial" pitchFamily="34" charset="0"/>
            </a:endParaRPr>
          </a:p>
          <a:p>
            <a:pPr lvl="1" algn="just" eaLnBrk="1" hangingPunct="1">
              <a:defRPr/>
            </a:pPr>
            <a:r>
              <a:rPr lang="en-US" sz="2000">
                <a:cs typeface="Arial" pitchFamily="34" charset="0"/>
              </a:rPr>
              <a:t>The Theory of Computation is also concerned with finding the most efficient methods for solving specific problems. </a:t>
            </a:r>
          </a:p>
          <a:p>
            <a:pPr lvl="1" algn="just" eaLnBrk="1" hangingPunct="1">
              <a:defRPr/>
            </a:pPr>
            <a:endParaRPr lang="en-US" sz="2000">
              <a:cs typeface="Arial" pitchFamily="34" charset="0"/>
            </a:endParaRPr>
          </a:p>
          <a:p>
            <a:pPr lvl="2" algn="just" eaLnBrk="1" hangingPunct="1">
              <a:defRPr/>
            </a:pPr>
            <a:r>
              <a:rPr lang="en-US" sz="1600" b="1" i="1">
                <a:solidFill>
                  <a:srgbClr val="0000FF"/>
                </a:solidFill>
                <a:cs typeface="Arial" pitchFamily="34" charset="0"/>
              </a:rPr>
              <a:t>For example, multiplying numbers can be done more efficient than via the adding the numbers repeatedly</a:t>
            </a:r>
          </a:p>
          <a:p>
            <a:pPr eaLnBrk="1" hangingPunct="1">
              <a:defRPr/>
            </a:pPr>
            <a:br>
              <a:rPr lang="en-US" sz="2400"/>
            </a:br>
            <a:endParaRPr lang="en-US" altLang="en-US" sz="2200"/>
          </a:p>
        </p:txBody>
      </p:sp>
      <p:sp>
        <p:nvSpPr>
          <p:cNvPr id="35844" name="Footer Placeholder 1">
            <a:extLst>
              <a:ext uri="{FF2B5EF4-FFF2-40B4-BE49-F238E27FC236}">
                <a16:creationId xmlns:a16="http://schemas.microsoft.com/office/drawing/2014/main" id="{960C4BE9-5A3E-6908-FF67-2E29975C40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99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9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9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500"/>
                                        <p:tgtEl>
                                          <p:spTgt spid="99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500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500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500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3">
            <a:extLst>
              <a:ext uri="{FF2B5EF4-FFF2-40B4-BE49-F238E27FC236}">
                <a16:creationId xmlns:a16="http://schemas.microsoft.com/office/drawing/2014/main" id="{EA434CA7-0BF1-AF8F-F0E5-DCFE1F4D22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GB" altLang="en-US">
                <a:latin typeface="Calibri" panose="020F0502020204030204" pitchFamily="34" charset="0"/>
                <a:cs typeface="Calibri" panose="020F0502020204030204" pitchFamily="34" charset="0"/>
              </a:rPr>
              <a:t>Computing Theory            Dr.A.Bazila Banu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4E8EE-6C46-A003-1398-7D91179570CF}"/>
              </a:ext>
            </a:extLst>
          </p:cNvPr>
          <p:cNvSpPr txBox="1"/>
          <p:nvPr/>
        </p:nvSpPr>
        <p:spPr>
          <a:xfrm>
            <a:off x="1130073" y="2794681"/>
            <a:ext cx="734536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MY" sz="2400">
                <a:latin typeface="+mj-lt"/>
                <a:hlinkClick r:id="rId2"/>
              </a:rPr>
              <a:t>https://www.youtube.com/watch?v=SV57Yv8BXBc</a:t>
            </a:r>
            <a:endParaRPr lang="en-MY" sz="240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D1DD6567-970E-D4EB-EEA0-03CAA51F4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369300" cy="882650"/>
          </a:xfrm>
        </p:spPr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Categories in Theory of Computation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3203EB76-DE55-42D8-AD10-5853C6F268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052513"/>
            <a:ext cx="8704263" cy="5472112"/>
          </a:xfrm>
        </p:spPr>
        <p:txBody>
          <a:bodyPr/>
          <a:lstStyle/>
          <a:p>
            <a:pPr eaLnBrk="1" hangingPunct="1"/>
            <a:r>
              <a:rPr lang="en-US" altLang="en-US" sz="2400" b="1">
                <a:cs typeface="Arial" panose="020B0604020202020204" pitchFamily="34" charset="0"/>
              </a:rPr>
              <a:t>Automata theory</a:t>
            </a:r>
          </a:p>
          <a:p>
            <a:pPr lvl="1" algn="just" eaLnBrk="1" hangingPunct="1"/>
            <a:r>
              <a:rPr lang="en-US" altLang="en-US" sz="1800">
                <a:cs typeface="Arial" panose="020B0604020202020204" pitchFamily="34" charset="0"/>
              </a:rPr>
              <a:t>study of abstract machines (or more appropriately, abstract 'mathematical' machines or systems) and the computational problems that can be solved using these machines</a:t>
            </a:r>
            <a:endParaRPr lang="en-US" altLang="en-US" sz="18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400" b="1">
                <a:cs typeface="Arial" panose="020B0604020202020204" pitchFamily="34" charset="0"/>
              </a:rPr>
              <a:t>Formal Language Theory</a:t>
            </a:r>
          </a:p>
          <a:p>
            <a:pPr lvl="1" algn="just" eaLnBrk="1" hangingPunct="1"/>
            <a:r>
              <a:rPr lang="en-US" altLang="en-US" sz="1800">
                <a:cs typeface="Arial" panose="020B0604020202020204" pitchFamily="34" charset="0"/>
              </a:rPr>
              <a:t>Language theory is a branch of mathematics concerned with describing languages as a set of operations over an alphabet.</a:t>
            </a:r>
            <a:endParaRPr lang="en-US" altLang="en-US" sz="18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000" b="1">
                <a:cs typeface="Arial" panose="020B0604020202020204" pitchFamily="34" charset="0"/>
              </a:rPr>
              <a:t>Computability theory</a:t>
            </a:r>
          </a:p>
          <a:p>
            <a:pPr lvl="1" eaLnBrk="1" hangingPunct="1"/>
            <a:r>
              <a:rPr lang="en-US" altLang="en-US" sz="1800">
                <a:cs typeface="Arial" panose="020B0604020202020204" pitchFamily="34" charset="0"/>
              </a:rPr>
              <a:t>Computability theory deals primarily with the question of the extent to which a problem is solvable on a computer</a:t>
            </a:r>
            <a:endParaRPr lang="en-US" altLang="en-US" sz="1800" b="1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000" b="1">
                <a:cs typeface="Arial" panose="020B0604020202020204" pitchFamily="34" charset="0"/>
              </a:rPr>
              <a:t>Computational complexity theory</a:t>
            </a:r>
          </a:p>
          <a:p>
            <a:pPr lvl="1" eaLnBrk="1" hangingPunct="1"/>
            <a:r>
              <a:rPr lang="en-US" altLang="en-US" sz="1800">
                <a:cs typeface="Arial" panose="020B0604020202020204" pitchFamily="34" charset="0"/>
              </a:rPr>
              <a:t>Complexity theory considers not only whether a problem can be solved at all on a computer, but also how efficiently the problem can be solved.</a:t>
            </a:r>
          </a:p>
        </p:txBody>
      </p:sp>
      <p:sp>
        <p:nvSpPr>
          <p:cNvPr id="36868" name="Footer Placeholder 1">
            <a:extLst>
              <a:ext uri="{FF2B5EF4-FFF2-40B4-BE49-F238E27FC236}">
                <a16:creationId xmlns:a16="http://schemas.microsoft.com/office/drawing/2014/main" id="{1C4C689C-F7CD-8B43-75D5-234C6427F2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E9600ED-D3D0-53DD-8E10-2199D97852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Automata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D38368F-B563-52C8-752B-07F4ADBFC9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Automata are concerned with the </a:t>
            </a:r>
            <a:r>
              <a:rPr lang="en-US" altLang="en-US" sz="2400" b="1">
                <a:solidFill>
                  <a:srgbClr val="0000FF"/>
                </a:solidFill>
              </a:rPr>
              <a:t>modelling of computation</a:t>
            </a:r>
            <a:r>
              <a:rPr lang="en-US" altLang="en-US" sz="2400">
                <a:solidFill>
                  <a:srgbClr val="0000FF"/>
                </a:solidFill>
              </a:rPr>
              <a:t> </a:t>
            </a:r>
            <a:r>
              <a:rPr lang="en-US" altLang="en-US" sz="2400"/>
              <a:t>and specifically how we can </a:t>
            </a:r>
            <a:r>
              <a:rPr lang="en-US" altLang="en-US" sz="2400">
                <a:solidFill>
                  <a:srgbClr val="0000FF"/>
                </a:solidFill>
              </a:rPr>
              <a:t>reason about computation</a:t>
            </a:r>
            <a:r>
              <a:rPr lang="en-US" altLang="en-US" sz="2400"/>
              <a:t>.  </a:t>
            </a:r>
          </a:p>
          <a:p>
            <a:pPr eaLnBrk="1" hangingPunct="1"/>
            <a:r>
              <a:rPr lang="en-US" altLang="en-US" sz="2400"/>
              <a:t>In particular,</a:t>
            </a:r>
          </a:p>
          <a:p>
            <a:pPr lvl="1" eaLnBrk="1" hangingPunct="1"/>
            <a:r>
              <a:rPr lang="en-US" altLang="en-US" sz="2400"/>
              <a:t>The key role of memory is emphasized in three different approaches to memory, </a:t>
            </a:r>
          </a:p>
          <a:p>
            <a:pPr lvl="2" eaLnBrk="1" hangingPunct="1"/>
            <a:r>
              <a:rPr lang="en-US" altLang="en-US"/>
              <a:t>being none (finite state machines), </a:t>
            </a:r>
            <a:r>
              <a:rPr lang="en-US" altLang="en-US">
                <a:solidFill>
                  <a:srgbClr val="FF0000"/>
                </a:solidFill>
              </a:rPr>
              <a:t>DFA &amp; NFA</a:t>
            </a:r>
          </a:p>
          <a:p>
            <a:pPr lvl="3" eaLnBrk="1" hangingPunct="1"/>
            <a:r>
              <a:rPr lang="en-US" altLang="en-US">
                <a:solidFill>
                  <a:srgbClr val="FF0000"/>
                </a:solidFill>
              </a:rPr>
              <a:t>Deterministic finite Automata</a:t>
            </a:r>
          </a:p>
          <a:p>
            <a:pPr lvl="3" eaLnBrk="1" hangingPunct="1"/>
            <a:r>
              <a:rPr lang="en-US" altLang="en-US" err="1">
                <a:solidFill>
                  <a:srgbClr val="FF0000"/>
                </a:solidFill>
              </a:rPr>
              <a:t>NonDeterministic</a:t>
            </a:r>
            <a:r>
              <a:rPr lang="en-US" altLang="en-US">
                <a:solidFill>
                  <a:srgbClr val="FF0000"/>
                </a:solidFill>
              </a:rPr>
              <a:t> Finite Automata</a:t>
            </a:r>
          </a:p>
          <a:p>
            <a:pPr lvl="2" eaLnBrk="1" hangingPunct="1"/>
            <a:r>
              <a:rPr lang="en-US" altLang="en-US"/>
              <a:t>a single stack (a pushdown automaton) and </a:t>
            </a:r>
            <a:r>
              <a:rPr lang="en-US" altLang="en-US">
                <a:solidFill>
                  <a:srgbClr val="FF0000"/>
                </a:solidFill>
              </a:rPr>
              <a:t>PDA</a:t>
            </a:r>
          </a:p>
          <a:p>
            <a:pPr lvl="2" eaLnBrk="1" hangingPunct="1"/>
            <a:r>
              <a:rPr lang="en-US" altLang="en-US"/>
              <a:t>a semi-infinite tape (a Turing machine). </a:t>
            </a:r>
          </a:p>
        </p:txBody>
      </p:sp>
      <p:sp>
        <p:nvSpPr>
          <p:cNvPr id="38916" name="Footer Placeholder 1">
            <a:extLst>
              <a:ext uri="{FF2B5EF4-FFF2-40B4-BE49-F238E27FC236}">
                <a16:creationId xmlns:a16="http://schemas.microsoft.com/office/drawing/2014/main" id="{E143EB4C-4040-A85D-288D-C80438909E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1F6D43F-DFB2-78B0-02CA-C13A280AD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8224838" cy="882650"/>
          </a:xfrm>
        </p:spPr>
        <p:txBody>
          <a:bodyPr/>
          <a:lstStyle/>
          <a:p>
            <a:pPr eaLnBrk="1" hangingPunct="1"/>
            <a:r>
              <a:rPr lang="en-US" altLang="en-US" b="1">
                <a:cs typeface="Arial" panose="020B0604020202020204" pitchFamily="34" charset="0"/>
              </a:rPr>
              <a:t> Diagrammatic representation of a generic automation.</a:t>
            </a:r>
          </a:p>
        </p:txBody>
      </p:sp>
      <p:pic>
        <p:nvPicPr>
          <p:cNvPr id="39939" name="Picture 2" descr="C:\Users\bazila.banu\Desktop\fig-1.gif">
            <a:extLst>
              <a:ext uri="{FF2B5EF4-FFF2-40B4-BE49-F238E27FC236}">
                <a16:creationId xmlns:a16="http://schemas.microsoft.com/office/drawing/2014/main" id="{2BB90996-5530-ED2F-B7A4-2D344984F2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250" y="2420938"/>
            <a:ext cx="5691188" cy="3744912"/>
          </a:xfrm>
          <a:noFill/>
        </p:spPr>
      </p:pic>
      <p:sp>
        <p:nvSpPr>
          <p:cNvPr id="39940" name="Rectangle 3">
            <a:extLst>
              <a:ext uri="{FF2B5EF4-FFF2-40B4-BE49-F238E27FC236}">
                <a16:creationId xmlns:a16="http://schemas.microsoft.com/office/drawing/2014/main" id="{582405E6-EC03-497A-D7C7-0912DD2E1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268413"/>
            <a:ext cx="7920037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The most important feature of the automaton is its control unit, which can be in any one of a finite number of interval states at any point. It can change state in some defined manner determined by a transition function.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>
                <a:latin typeface="Garamond" panose="02020404030301010803" pitchFamily="18" charset="0"/>
              </a:rPr>
            </a:br>
            <a:endParaRPr lang="en-US" altLang="en-US" sz="1800">
              <a:latin typeface="Garamond" panose="02020404030301010803" pitchFamily="18" charset="0"/>
            </a:endParaRPr>
          </a:p>
        </p:txBody>
      </p:sp>
      <p:sp>
        <p:nvSpPr>
          <p:cNvPr id="39941" name="Footer Placeholder 1">
            <a:extLst>
              <a:ext uri="{FF2B5EF4-FFF2-40B4-BE49-F238E27FC236}">
                <a16:creationId xmlns:a16="http://schemas.microsoft.com/office/drawing/2014/main" id="{B5D419F8-85E5-DD26-7CBE-2C9A1E40AC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903CBC2-2C0F-3A80-2BE9-633C0FCD8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Grammars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E86A06B-17CB-A9B6-D92A-8EFF2E9AE8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Grammars are concerned with the </a:t>
            </a:r>
            <a:r>
              <a:rPr lang="en-US" altLang="en-US" sz="2400" b="1">
                <a:solidFill>
                  <a:srgbClr val="0000FF"/>
                </a:solidFill>
              </a:rPr>
              <a:t>specifications of syntax rules</a:t>
            </a:r>
            <a:r>
              <a:rPr lang="en-US" altLang="en-US" sz="2400">
                <a:solidFill>
                  <a:srgbClr val="0000FF"/>
                </a:solidFill>
              </a:rPr>
              <a:t> </a:t>
            </a:r>
          </a:p>
          <a:p>
            <a:pPr eaLnBrk="1" hangingPunct="1"/>
            <a:r>
              <a:rPr lang="en-US" altLang="en-US" sz="2000"/>
              <a:t>In everyday language, like English, we have a set of symbols (alphabet), a set of words constructed from these symbols, and a set of rules using which we can group the words to construct meaningful sentences.</a:t>
            </a:r>
            <a:endParaRPr lang="en-US" altLang="en-US" sz="2000">
              <a:solidFill>
                <a:srgbClr val="0000FF"/>
              </a:solidFill>
            </a:endParaRPr>
          </a:p>
          <a:p>
            <a:pPr lvl="1" eaLnBrk="1" hangingPunct="1"/>
            <a:r>
              <a:rPr lang="en-US" altLang="en-US" sz="2000">
                <a:solidFill>
                  <a:srgbClr val="0000FF"/>
                </a:solidFill>
              </a:rPr>
              <a:t>A typical rule can be defined as</a:t>
            </a:r>
          </a:p>
          <a:p>
            <a:pPr lvl="1" eaLnBrk="1" hangingPunct="1"/>
            <a:r>
              <a:rPr lang="en-US" altLang="en-US" sz="2000">
                <a:solidFill>
                  <a:srgbClr val="0000FF"/>
                </a:solidFill>
              </a:rPr>
              <a:t>&lt; sentence &gt;&lt; noun-phrase &gt; &lt; predicate &gt;</a:t>
            </a:r>
          </a:p>
          <a:p>
            <a:pPr eaLnBrk="1" hangingPunct="1"/>
            <a:r>
              <a:rPr lang="en-US" altLang="en-US" sz="2400"/>
              <a:t>Meaning that "a sentence can be constructed using a 'noun-phrase' followed by a predicate".</a:t>
            </a:r>
          </a:p>
          <a:p>
            <a:pPr eaLnBrk="1" hangingPunct="1"/>
            <a:r>
              <a:rPr lang="en-US" altLang="en-US" sz="2400"/>
              <a:t>In particular, </a:t>
            </a:r>
          </a:p>
          <a:p>
            <a:pPr lvl="1" eaLnBrk="1" hangingPunct="1"/>
            <a:r>
              <a:rPr lang="en-US" altLang="en-US" sz="2400"/>
              <a:t>How do you indicate to a machine </a:t>
            </a:r>
            <a:r>
              <a:rPr lang="en-US" altLang="en-US" sz="2400">
                <a:solidFill>
                  <a:srgbClr val="0000FF"/>
                </a:solidFill>
              </a:rPr>
              <a:t>what programming language constructs are legal and which are not? </a:t>
            </a:r>
          </a:p>
        </p:txBody>
      </p:sp>
      <p:sp>
        <p:nvSpPr>
          <p:cNvPr id="40964" name="Footer Placeholder 1">
            <a:extLst>
              <a:ext uri="{FF2B5EF4-FFF2-40B4-BE49-F238E27FC236}">
                <a16:creationId xmlns:a16="http://schemas.microsoft.com/office/drawing/2014/main" id="{E305EF48-346A-60C5-9734-173D823819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C18AC13F-995E-00AA-0476-7D4549B4E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8CA35-3C90-DBB9-72C2-9CC1A33E4B9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268288" y="1514474"/>
            <a:ext cx="8704262" cy="4938861"/>
          </a:xfrm>
          <a:blipFill rotWithShape="0">
            <a:blip r:embed="rId2"/>
            <a:stretch>
              <a:fillRect l="-560" t="-617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pic>
        <p:nvPicPr>
          <p:cNvPr id="24580" name="Picture 2" descr="C:\Users\bazila.banu\Desktop\e-1.gif">
            <a:extLst>
              <a:ext uri="{FF2B5EF4-FFF2-40B4-BE49-F238E27FC236}">
                <a16:creationId xmlns:a16="http://schemas.microsoft.com/office/drawing/2014/main" id="{99675CE7-AEE5-7650-412D-016CDEB4B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36096" y="1844824"/>
            <a:ext cx="1618618" cy="40053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prstMaterial="dkEdge"/>
        </p:spPr>
      </p:pic>
      <p:pic>
        <p:nvPicPr>
          <p:cNvPr id="41989" name="Picture 4">
            <a:extLst>
              <a:ext uri="{FF2B5EF4-FFF2-40B4-BE49-F238E27FC236}">
                <a16:creationId xmlns:a16="http://schemas.microsoft.com/office/drawing/2014/main" id="{DE7D31AB-F4D8-7B5E-3222-D9831C36D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3303588"/>
            <a:ext cx="658813" cy="20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5">
            <a:extLst>
              <a:ext uri="{FF2B5EF4-FFF2-40B4-BE49-F238E27FC236}">
                <a16:creationId xmlns:a16="http://schemas.microsoft.com/office/drawing/2014/main" id="{87A52B0D-D9DB-68B9-0FB2-13AAF026E0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450" y="3973513"/>
            <a:ext cx="1543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7">
            <a:extLst>
              <a:ext uri="{FF2B5EF4-FFF2-40B4-BE49-F238E27FC236}">
                <a16:creationId xmlns:a16="http://schemas.microsoft.com/office/drawing/2014/main" id="{7A7F5916-59AE-F4EA-BAE7-74F61FA6A6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3573463"/>
            <a:ext cx="550862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2" name="Picture 8">
            <a:extLst>
              <a:ext uri="{FF2B5EF4-FFF2-40B4-BE49-F238E27FC236}">
                <a16:creationId xmlns:a16="http://schemas.microsoft.com/office/drawing/2014/main" id="{C4C8F7BA-B9BE-881A-9C2C-8E1728F70E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5754688"/>
            <a:ext cx="11715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3" name="Picture 9">
            <a:extLst>
              <a:ext uri="{FF2B5EF4-FFF2-40B4-BE49-F238E27FC236}">
                <a16:creationId xmlns:a16="http://schemas.microsoft.com/office/drawing/2014/main" id="{1957A1B6-CEB7-766C-6A3E-9556F837C0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13" y="5754688"/>
            <a:ext cx="11572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4" name="Picture 12">
            <a:extLst>
              <a:ext uri="{FF2B5EF4-FFF2-40B4-BE49-F238E27FC236}">
                <a16:creationId xmlns:a16="http://schemas.microsoft.com/office/drawing/2014/main" id="{EC01E053-3E53-2F70-845E-BD3E5E5F86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5229225"/>
            <a:ext cx="4667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5" name="Picture 10">
            <a:extLst>
              <a:ext uri="{FF2B5EF4-FFF2-40B4-BE49-F238E27FC236}">
                <a16:creationId xmlns:a16="http://schemas.microsoft.com/office/drawing/2014/main" id="{8B5E5FA2-FF8B-9580-0FAD-FE706A2D72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4868863"/>
            <a:ext cx="6667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6" name="Footer Placeholder 1">
            <a:extLst>
              <a:ext uri="{FF2B5EF4-FFF2-40B4-BE49-F238E27FC236}">
                <a16:creationId xmlns:a16="http://schemas.microsoft.com/office/drawing/2014/main" id="{F6B499D9-F2C5-3189-0EFA-157783AADB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EA9C261-64B1-430B-43D1-633CFCF51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Languages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6374188-1B7E-A180-BA8D-D00933921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295400"/>
            <a:ext cx="7772400" cy="51816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en-US" sz="1800">
                <a:cs typeface="Arial" panose="020B0604020202020204" pitchFamily="34" charset="0"/>
              </a:rPr>
              <a:t>A </a:t>
            </a:r>
            <a:r>
              <a:rPr lang="en-US" altLang="en-US" sz="1800" u="sng">
                <a:solidFill>
                  <a:srgbClr val="0000FF"/>
                </a:solidFill>
                <a:cs typeface="Arial" panose="020B0604020202020204" pitchFamily="34" charset="0"/>
              </a:rPr>
              <a:t>language</a:t>
            </a:r>
            <a:r>
              <a:rPr lang="en-US" altLang="en-US" sz="1800">
                <a:cs typeface="Arial" panose="020B0604020202020204" pitchFamily="34" charset="0"/>
              </a:rPr>
              <a:t> over an alphabet ∑ is a subset of ∑*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800">
                <a:cs typeface="Arial" panose="020B0604020202020204" pitchFamily="34" charset="0"/>
              </a:rPr>
              <a:t>Hence a language is just a “certain class” of strings over </a:t>
            </a:r>
            <a:r>
              <a:rPr lang="en-US" altLang="en-US" sz="1800" i="1">
                <a:cs typeface="Arial" panose="020B0604020202020204" pitchFamily="34" charset="0"/>
              </a:rPr>
              <a:t>∑</a:t>
            </a:r>
            <a:endParaRPr lang="en-US" altLang="en-US" sz="18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en-US" sz="1800">
                <a:cs typeface="Arial" panose="020B0604020202020204" pitchFamily="34" charset="0"/>
              </a:rPr>
              <a:t>	e.g.: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 = {0, 1}, L = {0, 01, 011, 0111, 01111,...}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 = {a,...z}, L = {</a:t>
            </a:r>
            <a:r>
              <a:rPr lang="en-US" altLang="en-US" sz="1800" err="1">
                <a:cs typeface="Arial" panose="020B0604020202020204" pitchFamily="34" charset="0"/>
              </a:rPr>
              <a:t>ab,cd,efghi,s,z</a:t>
            </a:r>
            <a:r>
              <a:rPr lang="en-US" altLang="en-US" sz="1800">
                <a:cs typeface="Arial" panose="020B0604020202020204" pitchFamily="34" charset="0"/>
              </a:rPr>
              <a:t>}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 = {0, 1}, L = { (representations of) primes}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 = C Tokens, L = { legal C programs }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 = {0, 1}, L = {strings containing at least 2 0’s}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 = {a,...z}, L = Ø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en-US" sz="18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800">
                <a:cs typeface="Arial" panose="020B0604020202020204" pitchFamily="34" charset="0"/>
              </a:rPr>
              <a:t>In general, the following format is used to specify a language: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>
                <a:cs typeface="Arial" panose="020B0604020202020204" pitchFamily="34" charset="0"/>
              </a:rPr>
              <a:t>L = {w 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1800">
                <a:cs typeface="Arial" panose="020B0604020202020204" pitchFamily="34" charset="0"/>
              </a:rPr>
              <a:t> </a:t>
            </a:r>
            <a:r>
              <a:rPr lang="en-US" altLang="en-US" sz="1800" i="1">
                <a:cs typeface="Arial" panose="020B0604020202020204" pitchFamily="34" charset="0"/>
              </a:rPr>
              <a:t>∑</a:t>
            </a:r>
            <a:r>
              <a:rPr lang="en-US" altLang="en-US" sz="1800">
                <a:cs typeface="Arial" panose="020B0604020202020204" pitchFamily="34" charset="0"/>
              </a:rPr>
              <a:t>* | w has property P}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sz="1800">
                <a:cs typeface="Arial" panose="020B0604020202020204" pitchFamily="34" charset="0"/>
              </a:rPr>
              <a:t>Hence to define a language, two elements needed: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>
                <a:solidFill>
                  <a:srgbClr val="0000FF"/>
                </a:solidFill>
                <a:cs typeface="Arial" panose="020B0604020202020204" pitchFamily="34" charset="0"/>
              </a:rPr>
              <a:t>building blocks / alphabets </a:t>
            </a:r>
            <a:r>
              <a:rPr lang="en-US" altLang="en-US" sz="1800">
                <a:cs typeface="Arial" panose="020B0604020202020204" pitchFamily="34" charset="0"/>
              </a:rPr>
              <a:t>and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sz="1800">
                <a:solidFill>
                  <a:srgbClr val="0000FF"/>
                </a:solidFill>
                <a:cs typeface="Arial" panose="020B0604020202020204" pitchFamily="34" charset="0"/>
              </a:rPr>
              <a:t>rules</a:t>
            </a:r>
            <a:r>
              <a:rPr lang="en-US" altLang="en-US" sz="1800">
                <a:cs typeface="Arial" panose="020B0604020202020204" pitchFamily="34" charset="0"/>
              </a:rPr>
              <a:t> for correct sequence of letters from alphabet</a:t>
            </a:r>
          </a:p>
        </p:txBody>
      </p:sp>
      <p:sp>
        <p:nvSpPr>
          <p:cNvPr id="43012" name="Footer Placeholder 1">
            <a:extLst>
              <a:ext uri="{FF2B5EF4-FFF2-40B4-BE49-F238E27FC236}">
                <a16:creationId xmlns:a16="http://schemas.microsoft.com/office/drawing/2014/main" id="{829E6A07-FF5A-271E-6B23-A0A4E28E58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C0174720-C329-24D2-1698-B8F8AA6E8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Kleene Star</a:t>
            </a:r>
            <a:br>
              <a:rPr lang="en-US" altLang="en-US"/>
            </a:br>
            <a:r>
              <a:rPr lang="en-US" altLang="en-US"/>
              <a:t>/Kleene 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58DE4-3C33-E63C-D6AA-57A9815A2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000" b="1" err="1">
                <a:solidFill>
                  <a:srgbClr val="FF0000"/>
                </a:solidFill>
              </a:rPr>
              <a:t>Kleene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b="1">
                <a:solidFill>
                  <a:srgbClr val="FF0000"/>
                </a:solidFill>
              </a:rPr>
              <a:t>Star</a:t>
            </a:r>
          </a:p>
          <a:p>
            <a:pPr marL="0" indent="0">
              <a:buFontTx/>
              <a:buNone/>
              <a:defRPr/>
            </a:pPr>
            <a:r>
              <a:rPr lang="en-US" sz="2000" b="1"/>
              <a:t>Definition</a:t>
            </a:r>
            <a:r>
              <a:rPr lang="en-US" sz="2000"/>
              <a:t> − The set </a:t>
            </a:r>
            <a:r>
              <a:rPr lang="en-US" sz="2000" b="1"/>
              <a:t>∑</a:t>
            </a:r>
            <a:r>
              <a:rPr lang="en-US" sz="2000" b="1" baseline="30000"/>
              <a:t>*</a:t>
            </a:r>
            <a:r>
              <a:rPr lang="en-US" sz="2000"/>
              <a:t> is the infinite set of all possible strings of all possible lengths over </a:t>
            </a:r>
            <a:r>
              <a:rPr lang="en-US" sz="2000" b="1"/>
              <a:t>∑</a:t>
            </a:r>
            <a:r>
              <a:rPr lang="en-US" sz="2000"/>
              <a:t> including </a:t>
            </a:r>
            <a:r>
              <a:rPr lang="el-GR" sz="2000" b="1"/>
              <a:t>λ</a:t>
            </a:r>
            <a:r>
              <a:rPr lang="el-GR" sz="2000"/>
              <a:t>.</a:t>
            </a:r>
          </a:p>
          <a:p>
            <a:pPr marL="0" indent="0">
              <a:buFontTx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Representation − 	∑</a:t>
            </a:r>
            <a:r>
              <a:rPr lang="en-US" sz="2000" b="1" baseline="30000">
                <a:solidFill>
                  <a:srgbClr val="0000FF"/>
                </a:solidFill>
              </a:rPr>
              <a:t>*</a:t>
            </a:r>
            <a:r>
              <a:rPr lang="en-US" sz="2000" b="1">
                <a:solidFill>
                  <a:srgbClr val="0000FF"/>
                </a:solidFill>
              </a:rPr>
              <a:t> = ∑</a:t>
            </a:r>
            <a:r>
              <a:rPr lang="en-US" sz="2000" b="1" baseline="-25000">
                <a:solidFill>
                  <a:srgbClr val="0000FF"/>
                </a:solidFill>
              </a:rPr>
              <a:t>0</a:t>
            </a:r>
            <a:r>
              <a:rPr lang="en-US" sz="2000" b="1">
                <a:solidFill>
                  <a:srgbClr val="0000FF"/>
                </a:solidFill>
              </a:rPr>
              <a:t> ∪ ∑</a:t>
            </a:r>
            <a:r>
              <a:rPr lang="en-US" sz="2000" b="1" baseline="-25000">
                <a:solidFill>
                  <a:srgbClr val="0000FF"/>
                </a:solidFill>
              </a:rPr>
              <a:t>1</a:t>
            </a:r>
            <a:r>
              <a:rPr lang="en-US" sz="2000" b="1">
                <a:solidFill>
                  <a:srgbClr val="0000FF"/>
                </a:solidFill>
              </a:rPr>
              <a:t> ∪ ∑</a:t>
            </a:r>
            <a:r>
              <a:rPr lang="en-US" sz="2000" b="1" baseline="-25000">
                <a:solidFill>
                  <a:srgbClr val="0000FF"/>
                </a:solidFill>
              </a:rPr>
              <a:t>2</a:t>
            </a:r>
            <a:r>
              <a:rPr lang="en-US" sz="2000" b="1">
                <a:solidFill>
                  <a:srgbClr val="0000FF"/>
                </a:solidFill>
              </a:rPr>
              <a:t> ∪…….</a:t>
            </a:r>
          </a:p>
          <a:p>
            <a:pPr marL="0" indent="0">
              <a:buFontTx/>
              <a:buNone/>
              <a:defRPr/>
            </a:pPr>
            <a:r>
              <a:rPr lang="en-US" sz="2000" b="1"/>
              <a:t>Example</a:t>
            </a:r>
            <a:r>
              <a:rPr lang="en-US" sz="2000"/>
              <a:t> − If ∑ = {a, b}, ∑</a:t>
            </a:r>
            <a:r>
              <a:rPr lang="en-US" sz="2000" baseline="30000"/>
              <a:t>*</a:t>
            </a:r>
            <a:r>
              <a:rPr lang="en-US" sz="2000"/>
              <a:t>= {</a:t>
            </a:r>
            <a:r>
              <a:rPr lang="el-GR" sz="2000"/>
              <a:t>λ, </a:t>
            </a:r>
            <a:r>
              <a:rPr lang="en-US" sz="2000"/>
              <a:t>a, b, </a:t>
            </a:r>
            <a:r>
              <a:rPr lang="en-US" sz="2000" err="1"/>
              <a:t>aa</a:t>
            </a:r>
            <a:r>
              <a:rPr lang="en-US" sz="2000"/>
              <a:t>, </a:t>
            </a:r>
            <a:r>
              <a:rPr lang="en-US" sz="2000" err="1"/>
              <a:t>ab</a:t>
            </a:r>
            <a:r>
              <a:rPr lang="en-US" sz="2000"/>
              <a:t>, </a:t>
            </a:r>
            <a:r>
              <a:rPr lang="en-US" sz="2000" err="1"/>
              <a:t>ba</a:t>
            </a:r>
            <a:r>
              <a:rPr lang="en-US" sz="2000"/>
              <a:t>, bb,………..}</a:t>
            </a:r>
          </a:p>
          <a:p>
            <a:pPr marL="0" indent="0">
              <a:buFontTx/>
              <a:buNone/>
              <a:defRPr/>
            </a:pPr>
            <a:r>
              <a:rPr lang="en-US" sz="2000" b="1" err="1">
                <a:solidFill>
                  <a:srgbClr val="FF0000"/>
                </a:solidFill>
              </a:rPr>
              <a:t>Kleene</a:t>
            </a:r>
            <a:r>
              <a:rPr lang="en-US" sz="2000" b="1">
                <a:solidFill>
                  <a:srgbClr val="FF0000"/>
                </a:solidFill>
              </a:rPr>
              <a:t> Closure/Plus</a:t>
            </a:r>
          </a:p>
          <a:p>
            <a:pPr marL="0" indent="0">
              <a:buFontTx/>
              <a:buNone/>
              <a:defRPr/>
            </a:pPr>
            <a:r>
              <a:rPr lang="en-US" sz="2000" b="1"/>
              <a:t>Definition</a:t>
            </a:r>
            <a:r>
              <a:rPr lang="en-US" sz="2000"/>
              <a:t> − The set </a:t>
            </a:r>
            <a:r>
              <a:rPr lang="en-US" sz="2000" b="1"/>
              <a:t>∑</a:t>
            </a:r>
            <a:r>
              <a:rPr lang="en-US" sz="2000" b="1" baseline="30000"/>
              <a:t>+</a:t>
            </a:r>
            <a:r>
              <a:rPr lang="en-US" sz="2000"/>
              <a:t> is the infinite set of all possible strings of all possible lengths over </a:t>
            </a:r>
            <a:r>
              <a:rPr lang="en-US" sz="2000" b="1"/>
              <a:t>∑</a:t>
            </a:r>
            <a:r>
              <a:rPr lang="en-US" sz="2000"/>
              <a:t> excluding </a:t>
            </a:r>
            <a:r>
              <a:rPr lang="el-GR" sz="2000" b="1"/>
              <a:t>λ</a:t>
            </a:r>
            <a:r>
              <a:rPr lang="el-GR" sz="2000"/>
              <a:t>.</a:t>
            </a:r>
          </a:p>
          <a:p>
            <a:pPr marL="0" indent="0">
              <a:buFontTx/>
              <a:buNone/>
              <a:defRPr/>
            </a:pPr>
            <a:r>
              <a:rPr lang="en-US" sz="2000" b="1">
                <a:solidFill>
                  <a:srgbClr val="0000FF"/>
                </a:solidFill>
              </a:rPr>
              <a:t>Representation − ∑</a:t>
            </a:r>
            <a:r>
              <a:rPr lang="en-US" sz="2000" b="1" baseline="30000">
                <a:solidFill>
                  <a:srgbClr val="0000FF"/>
                </a:solidFill>
              </a:rPr>
              <a:t>+</a:t>
            </a:r>
            <a:r>
              <a:rPr lang="en-US" sz="2000" b="1">
                <a:solidFill>
                  <a:srgbClr val="0000FF"/>
                </a:solidFill>
              </a:rPr>
              <a:t> = ∑</a:t>
            </a:r>
            <a:r>
              <a:rPr lang="en-US" sz="2000" b="1" baseline="-25000">
                <a:solidFill>
                  <a:srgbClr val="0000FF"/>
                </a:solidFill>
              </a:rPr>
              <a:t>0</a:t>
            </a:r>
            <a:r>
              <a:rPr lang="en-US" sz="2000" b="1">
                <a:solidFill>
                  <a:srgbClr val="0000FF"/>
                </a:solidFill>
              </a:rPr>
              <a:t> ∪ ∑</a:t>
            </a:r>
            <a:r>
              <a:rPr lang="en-US" sz="2000" b="1" baseline="-25000">
                <a:solidFill>
                  <a:srgbClr val="0000FF"/>
                </a:solidFill>
              </a:rPr>
              <a:t>1</a:t>
            </a:r>
            <a:r>
              <a:rPr lang="en-US" sz="2000" b="1">
                <a:solidFill>
                  <a:srgbClr val="0000FF"/>
                </a:solidFill>
              </a:rPr>
              <a:t> ∪ ∑</a:t>
            </a:r>
            <a:r>
              <a:rPr lang="en-US" sz="2000" b="1" baseline="-25000">
                <a:solidFill>
                  <a:srgbClr val="0000FF"/>
                </a:solidFill>
              </a:rPr>
              <a:t>2</a:t>
            </a:r>
            <a:r>
              <a:rPr lang="en-US" sz="2000" b="1">
                <a:solidFill>
                  <a:srgbClr val="0000FF"/>
                </a:solidFill>
              </a:rPr>
              <a:t> ∪…….</a:t>
            </a:r>
          </a:p>
          <a:p>
            <a:pPr marL="0" indent="0">
              <a:buFontTx/>
              <a:buNone/>
              <a:defRPr/>
            </a:pPr>
            <a:r>
              <a:rPr lang="en-US" sz="2000"/>
              <a:t>		∑</a:t>
            </a:r>
            <a:r>
              <a:rPr lang="en-US" sz="2000" baseline="30000"/>
              <a:t>+</a:t>
            </a:r>
            <a:r>
              <a:rPr lang="en-US" sz="2000"/>
              <a:t> = ∑</a:t>
            </a:r>
            <a:r>
              <a:rPr lang="en-US" sz="2000" baseline="30000"/>
              <a:t>*</a:t>
            </a:r>
            <a:r>
              <a:rPr lang="en-US" sz="2000"/>
              <a:t> − { </a:t>
            </a:r>
            <a:r>
              <a:rPr lang="el-GR" sz="2000"/>
              <a:t>λ }</a:t>
            </a:r>
          </a:p>
          <a:p>
            <a:pPr marL="0" indent="0">
              <a:buFontTx/>
              <a:buNone/>
              <a:defRPr/>
            </a:pPr>
            <a:r>
              <a:rPr lang="en-US" sz="2000" b="1"/>
              <a:t>Example</a:t>
            </a:r>
            <a:r>
              <a:rPr lang="en-US" sz="2000"/>
              <a:t> − If ∑ = { a, b } , ∑</a:t>
            </a:r>
            <a:r>
              <a:rPr lang="en-US" sz="2000" baseline="30000"/>
              <a:t>+</a:t>
            </a:r>
            <a:r>
              <a:rPr lang="en-US" sz="2000"/>
              <a:t> ={ a, b, </a:t>
            </a:r>
            <a:r>
              <a:rPr lang="en-US" sz="2000" err="1"/>
              <a:t>aa</a:t>
            </a:r>
            <a:r>
              <a:rPr lang="en-US" sz="2000"/>
              <a:t>, </a:t>
            </a:r>
            <a:r>
              <a:rPr lang="en-US" sz="2000" err="1"/>
              <a:t>ab</a:t>
            </a:r>
            <a:r>
              <a:rPr lang="en-US" sz="2000"/>
              <a:t>, </a:t>
            </a:r>
            <a:r>
              <a:rPr lang="en-US" sz="2000" err="1"/>
              <a:t>ba</a:t>
            </a:r>
            <a:r>
              <a:rPr lang="en-US" sz="2000"/>
              <a:t>, bb,………..}</a:t>
            </a:r>
          </a:p>
          <a:p>
            <a:pPr>
              <a:defRPr/>
            </a:pPr>
            <a:br>
              <a:rPr lang="en-US" sz="2000"/>
            </a:br>
            <a:endParaRPr lang="en-US" sz="2000"/>
          </a:p>
        </p:txBody>
      </p:sp>
      <p:sp>
        <p:nvSpPr>
          <p:cNvPr id="44036" name="Footer Placeholder 3">
            <a:extLst>
              <a:ext uri="{FF2B5EF4-FFF2-40B4-BE49-F238E27FC236}">
                <a16:creationId xmlns:a16="http://schemas.microsoft.com/office/drawing/2014/main" id="{3772EBA6-9773-62E4-5054-593C0233CE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56F22C5B-F385-F18B-CEEB-9E6B5C7E9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Languages and Grammers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0387F55-5CFC-A1BC-30B4-257E2C9ED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Formaly, for a given grammar </a:t>
            </a: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the language generated by </a:t>
            </a:r>
            <a:r>
              <a:rPr lang="en-US" altLang="en-US" sz="2000" i="1">
                <a:cs typeface="Arial" panose="020B0604020202020204" pitchFamily="34" charset="0"/>
              </a:rPr>
              <a:t>G</a:t>
            </a:r>
            <a:r>
              <a:rPr lang="en-US" altLang="en-US" sz="2000">
                <a:cs typeface="Arial" panose="020B0604020202020204" pitchFamily="34" charset="0"/>
              </a:rPr>
              <a:t> is</a:t>
            </a:r>
          </a:p>
          <a:p>
            <a:pPr eaLnBrk="1" hangingPunct="1"/>
            <a:endParaRPr lang="en-US" altLang="en-US" sz="2000">
              <a:cs typeface="Arial" panose="020B0604020202020204" pitchFamily="34" charset="0"/>
            </a:endParaRPr>
          </a:p>
          <a:p>
            <a:pPr eaLnBrk="1" hangingPunct="1"/>
            <a:endParaRPr lang="en-US" altLang="en-US"/>
          </a:p>
        </p:txBody>
      </p:sp>
      <p:pic>
        <p:nvPicPr>
          <p:cNvPr id="4" name="Picture 2" descr="C:\Users\bazila.banu\Desktop\e-1.gif">
            <a:extLst>
              <a:ext uri="{FF2B5EF4-FFF2-40B4-BE49-F238E27FC236}">
                <a16:creationId xmlns:a16="http://schemas.microsoft.com/office/drawing/2014/main" id="{294B03A6-3808-984B-13E2-83C23C8D6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3768" y="2384638"/>
            <a:ext cx="1618618" cy="400539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 prstMaterial="dkEdge"/>
        </p:spPr>
      </p:pic>
      <p:pic>
        <p:nvPicPr>
          <p:cNvPr id="45061" name="Picture 4">
            <a:extLst>
              <a:ext uri="{FF2B5EF4-FFF2-40B4-BE49-F238E27FC236}">
                <a16:creationId xmlns:a16="http://schemas.microsoft.com/office/drawing/2014/main" id="{0A032EAE-A099-A413-68B8-7508E8E2F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4292600"/>
            <a:ext cx="328771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Footer Placeholder 1">
            <a:extLst>
              <a:ext uri="{FF2B5EF4-FFF2-40B4-BE49-F238E27FC236}">
                <a16:creationId xmlns:a16="http://schemas.microsoft.com/office/drawing/2014/main" id="{BE8552B0-B460-5212-C1F8-63FBCBAB5D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0F5C6D34-3BE2-8D9F-4D28-A6E160743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Computability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7A42465-345C-4B03-3ED2-F7D88D873B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Computability is concerned with the </a:t>
            </a:r>
            <a:r>
              <a:rPr lang="en-US" altLang="en-US" sz="2400" b="1">
                <a:solidFill>
                  <a:srgbClr val="0000FF"/>
                </a:solidFill>
              </a:rPr>
              <a:t>fundamental limits of computation</a:t>
            </a:r>
            <a:r>
              <a:rPr lang="en-US" altLang="en-US" sz="2400"/>
              <a:t> (in contrast with the resources view used in complexity). </a:t>
            </a:r>
          </a:p>
          <a:p>
            <a:pPr eaLnBrk="1" hangingPunct="1"/>
            <a:r>
              <a:rPr lang="en-US" altLang="en-US" sz="2400"/>
              <a:t>In particular, it may be surprising to learn that there are </a:t>
            </a:r>
            <a:r>
              <a:rPr lang="en-US" altLang="en-US" sz="2400">
                <a:solidFill>
                  <a:schemeClr val="tx2"/>
                </a:solidFill>
              </a:rPr>
              <a:t>some </a:t>
            </a:r>
            <a:r>
              <a:rPr lang="en-US" altLang="en-US" sz="2400">
                <a:solidFill>
                  <a:srgbClr val="0000FF"/>
                </a:solidFill>
              </a:rPr>
              <a:t>problems</a:t>
            </a:r>
            <a:r>
              <a:rPr lang="en-US" altLang="en-US" sz="2400"/>
              <a:t> for which it can be proved that </a:t>
            </a:r>
            <a:r>
              <a:rPr lang="en-US" altLang="en-US" sz="2400">
                <a:solidFill>
                  <a:srgbClr val="0000FF"/>
                </a:solidFill>
              </a:rPr>
              <a:t>computers</a:t>
            </a:r>
            <a:r>
              <a:rPr lang="en-US" altLang="en-US" sz="2400"/>
              <a:t> (at least in their current conception) </a:t>
            </a:r>
            <a:r>
              <a:rPr lang="en-US" altLang="en-US" sz="2400">
                <a:solidFill>
                  <a:srgbClr val="0000FF"/>
                </a:solidFill>
              </a:rPr>
              <a:t>cannot solve</a:t>
            </a:r>
            <a:r>
              <a:rPr lang="en-US" altLang="en-US" sz="2400"/>
              <a:t>.</a:t>
            </a:r>
          </a:p>
        </p:txBody>
      </p:sp>
      <p:sp>
        <p:nvSpPr>
          <p:cNvPr id="46084" name="Footer Placeholder 1">
            <a:extLst>
              <a:ext uri="{FF2B5EF4-FFF2-40B4-BE49-F238E27FC236}">
                <a16:creationId xmlns:a16="http://schemas.microsoft.com/office/drawing/2014/main" id="{F3078A56-FA6C-0D99-4D70-01FC396A5B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800">
                <a:latin typeface="Calibri" panose="020F0502020204030204" pitchFamily="34" charset="0"/>
                <a:cs typeface="Times New Roman" panose="02020603050405020304" pitchFamily="18" charset="0"/>
              </a:rPr>
              <a:t>Computing Theory            Dr.A.Bazila Banu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U TEMPLATE">
  <a:themeElements>
    <a:clrScheme name="RTSCourseTemplat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RTSCourseTemplate">
      <a:majorFont>
        <a:latin typeface="Tahoma"/>
        <a:ea typeface=""/>
        <a:cs typeface="Times New Roman"/>
      </a:majorFont>
      <a:minorFont>
        <a:latin typeface="Tahom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RTSCourse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SCourseTemplat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TSCourse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TSCourseTemplat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APUtemplate-Level_2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OOAD(28-03-16)</Template>
  <TotalTime>18</TotalTime>
  <Words>1423</Words>
  <Application>Microsoft Office PowerPoint</Application>
  <PresentationFormat>On-screen Show (4:3)</PresentationFormat>
  <Paragraphs>159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APU TEMPLATE</vt:lpstr>
      <vt:lpstr>APUtemplate-Level_2</vt:lpstr>
      <vt:lpstr>Teams Code</vt:lpstr>
      <vt:lpstr>   Computing Theory</vt:lpstr>
      <vt:lpstr>PowerPoint Presentation</vt:lpstr>
      <vt:lpstr>Resources </vt:lpstr>
      <vt:lpstr>Objective</vt:lpstr>
      <vt:lpstr>Learning Outcomes</vt:lpstr>
      <vt:lpstr>Assesment</vt:lpstr>
      <vt:lpstr>What is expected of you </vt:lpstr>
      <vt:lpstr>PowerPoint Presentation</vt:lpstr>
      <vt:lpstr>Why we need Computing Theory</vt:lpstr>
      <vt:lpstr>PowerPoint Presentation</vt:lpstr>
      <vt:lpstr>Categories in Theory of Computation</vt:lpstr>
      <vt:lpstr>Automata </vt:lpstr>
      <vt:lpstr> Diagrammatic representation of a generic automation.</vt:lpstr>
      <vt:lpstr>Grammars</vt:lpstr>
      <vt:lpstr>Grammars</vt:lpstr>
      <vt:lpstr>Languages</vt:lpstr>
      <vt:lpstr>Kleene Star /Kleene Closure</vt:lpstr>
      <vt:lpstr>Languages and Grammers</vt:lpstr>
      <vt:lpstr>Computability</vt:lpstr>
    </vt:vector>
  </TitlesOfParts>
  <Company>_x0010_䀀Ɏ텨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Eckermann</dc:creator>
  <cp:lastModifiedBy>Farhana Illiani Binti Hassan</cp:lastModifiedBy>
  <cp:revision>2</cp:revision>
  <cp:lastPrinted>2017-08-21T04:52:47Z</cp:lastPrinted>
  <dcterms:created xsi:type="dcterms:W3CDTF">2003-06-16T01:02:08Z</dcterms:created>
  <dcterms:modified xsi:type="dcterms:W3CDTF">2026-02-23T01:25:03Z</dcterms:modified>
</cp:coreProperties>
</file>